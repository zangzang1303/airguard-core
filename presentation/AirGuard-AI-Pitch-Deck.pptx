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05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EF155-42F6-4718-BD30-629A6476372E}"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E9BB4A-E5B4-4B50-AC02-DF27FD91C7A2}" type="slidenum">
              <a:rPr lang="en-US" smtClean="0"/>
              <a:t>‹#›</a:t>
            </a:fld>
            <a:endParaRPr lang="en-US"/>
          </a:p>
        </p:txBody>
      </p:sp>
    </p:spTree>
    <p:extLst>
      <p:ext uri="{BB962C8B-B14F-4D97-AF65-F5344CB8AC3E}">
        <p14:creationId xmlns:p14="http://schemas.microsoft.com/office/powerpoint/2010/main" val="312585662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Mở đầu: AirGuard AI là MVP minh họa chuỗi dữ liệu từ thu thập đến hỗ trợ ra quyết định. Hệ thống không thay thế quan trắc chính thức hay tư vấn y tế.</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1</a:t>
            </a:fld>
            <a:endParaRPr lang="en-US"/>
          </a:p>
        </p:txBody>
      </p:sp>
    </p:spTree>
    <p:extLst>
      <p:ext uri="{BB962C8B-B14F-4D97-AF65-F5344CB8AC3E}">
        <p14:creationId xmlns:p14="http://schemas.microsoft.com/office/powerpoint/2010/main" val="4176137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Vấn đề không chỉ là có số PM2.5 hay CO2. Người dùng cần biết dữ liệu có tin cậy không và cần làm gì. Với quản lý, mọi hành động phải có bằng chứng và người chịu trách nhiệm.</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2</a:t>
            </a:fld>
            <a:endParaRPr lang="en-US"/>
          </a:p>
        </p:txBody>
      </p:sp>
    </p:spTree>
    <p:extLst>
      <p:ext uri="{BB962C8B-B14F-4D97-AF65-F5344CB8AC3E}">
        <p14:creationId xmlns:p14="http://schemas.microsoft.com/office/powerpoint/2010/main" val="2812592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Dữ liệu từ năm trạm mô phỏng đi qua MQTT, được kiểm tra chất lượng, lưu vào PostgreSQL và phục vụ qua FastAPI. Dashboard và Agent chỉ dùng dữ liệu do backend cung cấp.</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3</a:t>
            </a:fld>
            <a:endParaRPr lang="en-US"/>
          </a:p>
        </p:txBody>
      </p:sp>
    </p:spTree>
    <p:extLst>
      <p:ext uri="{BB962C8B-B14F-4D97-AF65-F5344CB8AC3E}">
        <p14:creationId xmlns:p14="http://schemas.microsoft.com/office/powerpoint/2010/main" val="3059365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Người dùng bắt đầu với AQI để có bức tranh nhanh, sau đó xem chỉ số thành phần và trạng thái freshness. Chúng em giữ nhãn simulator để tránh hiểu đây là dữ liệu quan trắc chính thức.</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4</a:t>
            </a:fld>
            <a:endParaRPr lang="en-US"/>
          </a:p>
        </p:txBody>
      </p:sp>
    </p:spTree>
    <p:extLst>
      <p:ext uri="{BB962C8B-B14F-4D97-AF65-F5344CB8AC3E}">
        <p14:creationId xmlns:p14="http://schemas.microsoft.com/office/powerpoint/2010/main" val="613244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Trọng tâm không phải là AI nói trôi chảy. Agent chỉ diễn giải tool result của cùng request; nếu thiếu dữ liệu, Agent nói rõ chưa đủ dữ liệu. Agent không có quyền phê duyệt hoặc điều khiển thiết bị.</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5</a:t>
            </a:fld>
            <a:endParaRPr lang="en-US"/>
          </a:p>
        </p:txBody>
      </p:sp>
    </p:spTree>
    <p:extLst>
      <p:ext uri="{BB962C8B-B14F-4D97-AF65-F5344CB8AC3E}">
        <p14:creationId xmlns:p14="http://schemas.microsoft.com/office/powerpoint/2010/main" val="3327949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Agent chỉ tạo proposal pending. Manager là người approve hoặc reject. Khi được duyệt, dispatcher mới phát command; audit giúp truy vết toàn bộ hành trình quyết định.</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6</a:t>
            </a:fld>
            <a:endParaRPr lang="en-US"/>
          </a:p>
        </p:txBody>
      </p:sp>
    </p:spTree>
    <p:extLst>
      <p:ext uri="{BB962C8B-B14F-4D97-AF65-F5344CB8AC3E}">
        <p14:creationId xmlns:p14="http://schemas.microsoft.com/office/powerpoint/2010/main" val="2510738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Nhóm tự đo các tác vụ lõi tại máy hiện tại. Đây là microbenchmark, không phải độ trễ end-to-end. Số liệu cho thấy phần tính toán lõi không phải nút thắt với quy mô demo.</a:t>
            </a:r>
          </a:p>
        </p:txBody>
      </p:sp>
      <p:sp>
        <p:nvSpPr>
          <p:cNvPr id="4" name="Slide Number Placeholder 3"/>
          <p:cNvSpPr>
            <a:spLocks noGrp="1"/>
          </p:cNvSpPr>
          <p:nvPr>
            <p:ph type="sldNum" sz="quarter" idx="5"/>
          </p:nvPr>
        </p:nvSpPr>
        <p:spPr/>
        <p:txBody>
          <a:bodyPr/>
          <a:lstStyle/>
          <a:p>
            <a:fld id="{51E9BB4A-E5B4-4B50-AC02-DF27FD91C7A2}" type="slidenum">
              <a:rPr lang="en-US" smtClean="0"/>
              <a:t>7</a:t>
            </a:fld>
            <a:endParaRPr lang="en-US"/>
          </a:p>
        </p:txBody>
      </p:sp>
    </p:spTree>
    <p:extLst>
      <p:ext uri="{BB962C8B-B14F-4D97-AF65-F5344CB8AC3E}">
        <p14:creationId xmlns:p14="http://schemas.microsoft.com/office/powerpoint/2010/main" val="1391635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Tính khả thi không chỉ nằm ở UI. Pipeline lõi đã có, và runbook demo bao gồm cả normal, spike, stale/duplicate, Agent thiếu dữ liệu, cùng luồng approval/reject.</a:t>
            </a:r>
          </a:p>
        </p:txBody>
      </p:sp>
      <p:sp>
        <p:nvSpPr>
          <p:cNvPr id="4" name="Slide Number Placeholder 3"/>
          <p:cNvSpPr>
            <a:spLocks noGrp="1"/>
          </p:cNvSpPr>
          <p:nvPr>
            <p:ph type="sldNum" sz="quarter" idx="5"/>
          </p:nvPr>
        </p:nvSpPr>
        <p:spPr/>
        <p:txBody>
          <a:bodyPr/>
          <a:lstStyle/>
          <a:p>
            <a:fld id="{51E9BB4A-E5B4-4B50-AC02-DF27FD91C7A2}" type="slidenum">
              <a:rPr lang="en-US" smtClean="0"/>
              <a:t>8</a:t>
            </a:fld>
            <a:endParaRPr lang="en-US"/>
          </a:p>
        </p:txBody>
      </p:sp>
    </p:spTree>
    <p:extLst>
      <p:ext uri="{BB962C8B-B14F-4D97-AF65-F5344CB8AC3E}">
        <p14:creationId xmlns:p14="http://schemas.microsoft.com/office/powerpoint/2010/main" val="2795942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tiếp theo không phải là thêm nhiều AI, mà là xác nhận rule và nguồn dữ liệu thực, sau đó tích hợp sensor thật, đánh giá mô hình và hoàn thiện bảo mật production.</a:t>
            </a:r>
            <a:endParaRPr lang="en-US"/>
          </a:p>
        </p:txBody>
      </p:sp>
      <p:sp>
        <p:nvSpPr>
          <p:cNvPr id="4" name="Slide Number Placeholder 3"/>
          <p:cNvSpPr>
            <a:spLocks noGrp="1"/>
          </p:cNvSpPr>
          <p:nvPr>
            <p:ph type="sldNum" sz="quarter" idx="5"/>
          </p:nvPr>
        </p:nvSpPr>
        <p:spPr/>
        <p:txBody>
          <a:bodyPr/>
          <a:lstStyle/>
          <a:p>
            <a:fld id="{51E9BB4A-E5B4-4B50-AC02-DF27FD91C7A2}" type="slidenum">
              <a:rPr lang="en-US" smtClean="0"/>
              <a:t>9</a:t>
            </a:fld>
            <a:endParaRPr lang="en-US"/>
          </a:p>
        </p:txBody>
      </p:sp>
    </p:spTree>
    <p:extLst>
      <p:ext uri="{BB962C8B-B14F-4D97-AF65-F5344CB8AC3E}">
        <p14:creationId xmlns:p14="http://schemas.microsoft.com/office/powerpoint/2010/main" val="3631754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AAA65-9EC5-057E-FD1D-70EB6323D915}"/>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38A46F7-D8CB-517E-2F63-09F2C30063D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FB767BA-1F87-686C-0789-B56CC0EAAC83}"/>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5" name="Footer Placeholder 4">
            <a:extLst>
              <a:ext uri="{FF2B5EF4-FFF2-40B4-BE49-F238E27FC236}">
                <a16:creationId xmlns:a16="http://schemas.microsoft.com/office/drawing/2014/main" id="{BAA6D24D-66BF-9285-B6B5-329B8241CF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E7C143-2BFA-D941-FC4E-558A6D9B91F6}"/>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2066403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7B9E-7B6E-0D6F-8C8E-90941F191F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8C6E4-CCB0-4D59-F9D2-40517B9D55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087951-6257-C50A-D797-ACFFC4F42090}"/>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5" name="Footer Placeholder 4">
            <a:extLst>
              <a:ext uri="{FF2B5EF4-FFF2-40B4-BE49-F238E27FC236}">
                <a16:creationId xmlns:a16="http://schemas.microsoft.com/office/drawing/2014/main" id="{5C791F9B-CAA6-BE34-7ABF-7FDA18E29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F55A4-FFE8-3F2F-EDF0-F5F9E3422274}"/>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327268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2D5CF-474F-695F-4876-4E4F77137F8B}"/>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CD17BE6-6F59-869C-9874-63BF206A793F}"/>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51CB79-4645-8642-7CED-5A3A449BEBDC}"/>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5" name="Footer Placeholder 4">
            <a:extLst>
              <a:ext uri="{FF2B5EF4-FFF2-40B4-BE49-F238E27FC236}">
                <a16:creationId xmlns:a16="http://schemas.microsoft.com/office/drawing/2014/main" id="{8045526F-2572-27EF-4BCC-1F8AF47E7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742A1-E47F-E8D3-CE4B-38494D4B0F7E}"/>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66964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28A20-1D46-016B-E562-69491B6D0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BC3C06-93A2-FA64-BA45-0E42F4733D83}"/>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A0CDEE-AAFB-80F7-135E-F74118F88F3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086DE-F704-92E5-105E-1DD0A3EC110D}"/>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6" name="Footer Placeholder 5">
            <a:extLst>
              <a:ext uri="{FF2B5EF4-FFF2-40B4-BE49-F238E27FC236}">
                <a16:creationId xmlns:a16="http://schemas.microsoft.com/office/drawing/2014/main" id="{ED8AABFC-827F-9EFB-C307-528B215C03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E37CC2-4E75-B369-DAAA-6138DCB3D9B8}"/>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3546923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F528-A4FA-339F-E528-AC5133DBAE3C}"/>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39EB1F-9532-D1B7-39C5-6B7C756CD5D1}"/>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1EC33F8-9983-B7AC-40AE-F631410835A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04BF2-B146-A025-4457-77391CCF1EAF}"/>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13475-B607-B05A-924E-DA91CFAFCC0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1297B6-EAE4-2CA2-0B59-DC8BDB14209E}"/>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8" name="Footer Placeholder 7">
            <a:extLst>
              <a:ext uri="{FF2B5EF4-FFF2-40B4-BE49-F238E27FC236}">
                <a16:creationId xmlns:a16="http://schemas.microsoft.com/office/drawing/2014/main" id="{B375B801-4AF8-B485-A0B0-5E9B141CBA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213FED-D175-9BD4-8743-BA4253B65FBB}"/>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3590175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D5F85-45F3-5DEC-A4B1-2C8F57557D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7D0920-E5F3-D1A9-4D9F-08C564086CF8}"/>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4" name="Footer Placeholder 3">
            <a:extLst>
              <a:ext uri="{FF2B5EF4-FFF2-40B4-BE49-F238E27FC236}">
                <a16:creationId xmlns:a16="http://schemas.microsoft.com/office/drawing/2014/main" id="{6137F5BB-5121-89C9-E000-D4EC93B1E8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7DDDBA-D8DD-0660-CF37-308C1CAB922C}"/>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2288135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4FA56-B65F-48EF-9679-69E2502A3398}"/>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3" name="Footer Placeholder 2">
            <a:extLst>
              <a:ext uri="{FF2B5EF4-FFF2-40B4-BE49-F238E27FC236}">
                <a16:creationId xmlns:a16="http://schemas.microsoft.com/office/drawing/2014/main" id="{6E129BA5-D6D1-6D6A-D042-EC4FC464CA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8E9AD9-3BC4-D3EC-8D0B-EF4D7952E5A7}"/>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3995977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A67F-8A74-F1D0-F199-8843881FFD5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5234F22-60B2-D549-FBCA-23DB1CDD78F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FD5E54-48FD-A77F-5B95-1E46802A1B1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638B33C-9B01-80F5-BA10-55D20E758D94}"/>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6" name="Footer Placeholder 5">
            <a:extLst>
              <a:ext uri="{FF2B5EF4-FFF2-40B4-BE49-F238E27FC236}">
                <a16:creationId xmlns:a16="http://schemas.microsoft.com/office/drawing/2014/main" id="{B1BB6656-7256-A657-3157-008C7D125E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AADC7-8EA1-0178-AF07-1E13A84A6822}"/>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2728865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F1438-1F44-DFFF-12C3-6583B38C886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97E78A8-A9E6-CD22-4D49-2FA2B3603E5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EAA5C594-E633-0CD4-63DC-90C84D66B85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11C391-481C-7A13-1239-65E34981E3C0}"/>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6" name="Footer Placeholder 5">
            <a:extLst>
              <a:ext uri="{FF2B5EF4-FFF2-40B4-BE49-F238E27FC236}">
                <a16:creationId xmlns:a16="http://schemas.microsoft.com/office/drawing/2014/main" id="{23F8960E-BEB2-D2A9-4F0D-4E3954A154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049D4A-30EE-AD14-6979-D02F08C328D5}"/>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2534745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0E1C-BC92-0A53-E4D1-6D978AC74B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AC1E52-71A9-A327-ED3A-A335EAF892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83D6B7-F646-DDFB-710F-360F89C3473E}"/>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5" name="Footer Placeholder 4">
            <a:extLst>
              <a:ext uri="{FF2B5EF4-FFF2-40B4-BE49-F238E27FC236}">
                <a16:creationId xmlns:a16="http://schemas.microsoft.com/office/drawing/2014/main" id="{7F3ABAF3-E3B4-38FE-F904-DD721F8DA8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9AB61-DE1B-9C96-FDAC-C7130E3320AC}"/>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85913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11EFC4-482A-F5E2-340E-1A0A18F87D95}"/>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357FFF-6A26-0BC7-3884-0722BD070A22}"/>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5BC5D0-7260-74C6-F802-08190E6B6CC6}"/>
              </a:ext>
            </a:extLst>
          </p:cNvPr>
          <p:cNvSpPr>
            <a:spLocks noGrp="1"/>
          </p:cNvSpPr>
          <p:nvPr>
            <p:ph type="dt" sz="half" idx="10"/>
          </p:nvPr>
        </p:nvSpPr>
        <p:spPr/>
        <p:txBody>
          <a:bodyPr/>
          <a:lstStyle/>
          <a:p>
            <a:fld id="{52117B3B-589D-45E7-8F1B-3632A4C741BD}" type="datetimeFigureOut">
              <a:rPr lang="en-US" smtClean="0"/>
              <a:t>8/24/2026</a:t>
            </a:fld>
            <a:endParaRPr lang="en-US"/>
          </a:p>
        </p:txBody>
      </p:sp>
      <p:sp>
        <p:nvSpPr>
          <p:cNvPr id="5" name="Footer Placeholder 4">
            <a:extLst>
              <a:ext uri="{FF2B5EF4-FFF2-40B4-BE49-F238E27FC236}">
                <a16:creationId xmlns:a16="http://schemas.microsoft.com/office/drawing/2014/main" id="{A2919DD7-D691-3666-6F0F-588A462CB8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2F6B3F-A5CA-1467-4C9F-C2BC941BA908}"/>
              </a:ext>
            </a:extLst>
          </p:cNvPr>
          <p:cNvSpPr>
            <a:spLocks noGrp="1"/>
          </p:cNvSpPr>
          <p:nvPr>
            <p:ph type="sldNum" sz="quarter" idx="12"/>
          </p:nvPr>
        </p:nvSpPr>
        <p:spPr/>
        <p:txBody>
          <a:bodyPr/>
          <a:lstStyle/>
          <a:p>
            <a:fld id="{02BFB4C1-A3D7-4337-824D-92152FBDC23B}" type="slidenum">
              <a:rPr lang="en-US" smtClean="0"/>
              <a:t>‹#›</a:t>
            </a:fld>
            <a:endParaRPr lang="en-US"/>
          </a:p>
        </p:txBody>
      </p:sp>
    </p:spTree>
    <p:extLst>
      <p:ext uri="{BB962C8B-B14F-4D97-AF65-F5344CB8AC3E}">
        <p14:creationId xmlns:p14="http://schemas.microsoft.com/office/powerpoint/2010/main" val="2869218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6A97E4-F969-E2FF-45AF-646DCD73FE1C}"/>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42B4BC-98C8-DC56-EF97-BEA5F6CCA8E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AB726A-D9E1-E810-B4CF-8CA4AFBBBB7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2117B3B-589D-45E7-8F1B-3632A4C741BD}" type="datetimeFigureOut">
              <a:rPr lang="en-US" smtClean="0"/>
              <a:t>8/24/2026</a:t>
            </a:fld>
            <a:endParaRPr lang="en-US"/>
          </a:p>
        </p:txBody>
      </p:sp>
      <p:sp>
        <p:nvSpPr>
          <p:cNvPr id="5" name="Footer Placeholder 4">
            <a:extLst>
              <a:ext uri="{FF2B5EF4-FFF2-40B4-BE49-F238E27FC236}">
                <a16:creationId xmlns:a16="http://schemas.microsoft.com/office/drawing/2014/main" id="{97C1679D-3901-CFFA-F577-C29A228D873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55FD95-33AD-2F35-0DDD-943308B96D1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02BFB4C1-A3D7-4337-824D-92152FBDC23B}" type="slidenum">
              <a:rPr lang="en-US" smtClean="0"/>
              <a:t>‹#›</a:t>
            </a:fld>
            <a:endParaRPr lang="en-US"/>
          </a:p>
        </p:txBody>
      </p:sp>
    </p:spTree>
    <p:extLst>
      <p:ext uri="{BB962C8B-B14F-4D97-AF65-F5344CB8AC3E}">
        <p14:creationId xmlns:p14="http://schemas.microsoft.com/office/powerpoint/2010/main" val="103558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F77D06-E9E4-AE62-88DD-40ABB7F0B3F6}"/>
              </a:ext>
            </a:extLst>
          </p:cNvPr>
          <p:cNvSpPr txBox="1"/>
          <p:nvPr/>
        </p:nvSpPr>
        <p:spPr>
          <a:xfrm>
            <a:off x="400050" y="400050"/>
            <a:ext cx="2381250" cy="161583"/>
          </a:xfrm>
          <a:prstGeom prst="rect">
            <a:avLst/>
          </a:prstGeom>
          <a:noFill/>
        </p:spPr>
        <p:txBody>
          <a:bodyPr vert="horz" lIns="0" tIns="0" rIns="0" bIns="0" rtlCol="0">
            <a:spAutoFit/>
          </a:bodyPr>
          <a:lstStyle/>
          <a:p>
            <a:r>
              <a:rPr lang="en-US" sz="1050" b="1">
                <a:solidFill>
                  <a:srgbClr val="999999"/>
                </a:solidFill>
                <a:latin typeface="Aptos" panose="020B0004020202020204" pitchFamily="34" charset="0"/>
              </a:rPr>
              <a:t>AIRGUARD AI</a:t>
            </a:r>
          </a:p>
        </p:txBody>
      </p:sp>
      <p:sp>
        <p:nvSpPr>
          <p:cNvPr id="3" name="TextBox 2">
            <a:extLst>
              <a:ext uri="{FF2B5EF4-FFF2-40B4-BE49-F238E27FC236}">
                <a16:creationId xmlns:a16="http://schemas.microsoft.com/office/drawing/2014/main" id="{D3E5D937-2BFE-447E-E378-BA9CE9973C65}"/>
              </a:ext>
            </a:extLst>
          </p:cNvPr>
          <p:cNvSpPr txBox="1"/>
          <p:nvPr/>
        </p:nvSpPr>
        <p:spPr>
          <a:xfrm>
            <a:off x="400050" y="1685925"/>
            <a:ext cx="8334375" cy="830997"/>
          </a:xfrm>
          <a:prstGeom prst="rect">
            <a:avLst/>
          </a:prstGeom>
          <a:noFill/>
        </p:spPr>
        <p:txBody>
          <a:bodyPr vert="horz" lIns="0" tIns="0" rIns="0" bIns="0" rtlCol="0">
            <a:spAutoFit/>
          </a:bodyPr>
          <a:lstStyle/>
          <a:p>
            <a:r>
              <a:rPr lang="vi-VN" sz="2700" b="1">
                <a:solidFill>
                  <a:srgbClr val="000000"/>
                </a:solidFill>
                <a:latin typeface="Aptos" panose="020B0004020202020204" pitchFamily="34" charset="0"/>
              </a:rPr>
              <a:t>Quan sát môi trường,
hỗ trợ quyết định an toàn</a:t>
            </a:r>
            <a:endParaRPr lang="en-US" sz="2700" b="1">
              <a:solidFill>
                <a:srgbClr val="000000"/>
              </a:solidFill>
              <a:latin typeface="Aptos" panose="020B0004020202020204" pitchFamily="34" charset="0"/>
            </a:endParaRPr>
          </a:p>
        </p:txBody>
      </p:sp>
      <p:sp>
        <p:nvSpPr>
          <p:cNvPr id="4" name="TextBox 3">
            <a:extLst>
              <a:ext uri="{FF2B5EF4-FFF2-40B4-BE49-F238E27FC236}">
                <a16:creationId xmlns:a16="http://schemas.microsoft.com/office/drawing/2014/main" id="{737485D2-764D-9733-2C9B-9F3F6A291C78}"/>
              </a:ext>
            </a:extLst>
          </p:cNvPr>
          <p:cNvSpPr txBox="1"/>
          <p:nvPr/>
        </p:nvSpPr>
        <p:spPr>
          <a:xfrm>
            <a:off x="400050" y="3429000"/>
            <a:ext cx="6858000" cy="253916"/>
          </a:xfrm>
          <a:prstGeom prst="rect">
            <a:avLst/>
          </a:prstGeom>
          <a:noFill/>
        </p:spPr>
        <p:txBody>
          <a:bodyPr vert="horz" lIns="0" tIns="0" rIns="0" bIns="0" rtlCol="0">
            <a:spAutoFit/>
          </a:bodyPr>
          <a:lstStyle/>
          <a:p>
            <a:r>
              <a:rPr lang="vi-VN" sz="1650">
                <a:solidFill>
                  <a:srgbClr val="999999"/>
                </a:solidFill>
                <a:latin typeface="Aptos" panose="020B0004020202020204" pitchFamily="34" charset="0"/>
              </a:rPr>
              <a:t>MVP giám sát chất lượng môi trường tại Vinhomes Ocean Park 1</a:t>
            </a:r>
            <a:endParaRPr lang="en-US" sz="1650">
              <a:solidFill>
                <a:srgbClr val="999999"/>
              </a:solidFill>
              <a:latin typeface="Aptos" panose="020B0004020202020204" pitchFamily="34" charset="0"/>
            </a:endParaRPr>
          </a:p>
        </p:txBody>
      </p:sp>
      <p:sp>
        <p:nvSpPr>
          <p:cNvPr id="5" name="Rectangle 4">
            <a:extLst>
              <a:ext uri="{FF2B5EF4-FFF2-40B4-BE49-F238E27FC236}">
                <a16:creationId xmlns:a16="http://schemas.microsoft.com/office/drawing/2014/main" id="{550B0DC4-8151-418D-A3D2-12CC340D37A9}"/>
              </a:ext>
            </a:extLst>
          </p:cNvPr>
          <p:cNvSpPr/>
          <p:nvPr/>
        </p:nvSpPr>
        <p:spPr>
          <a:xfrm>
            <a:off x="400050" y="4476750"/>
            <a:ext cx="6858000" cy="28575"/>
          </a:xfrm>
          <a:prstGeom prst="rect">
            <a:avLst/>
          </a:prstGeom>
          <a:solidFill>
            <a:srgbClr val="0080FF"/>
          </a:solidFill>
          <a:ln>
            <a:solidFill>
              <a:srgbClr val="008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79C90C8-CCB0-7057-6159-E67775A598DB}"/>
              </a:ext>
            </a:extLst>
          </p:cNvPr>
          <p:cNvSpPr txBox="1"/>
          <p:nvPr/>
        </p:nvSpPr>
        <p:spPr>
          <a:xfrm>
            <a:off x="400050" y="4743450"/>
            <a:ext cx="7429500" cy="207749"/>
          </a:xfrm>
          <a:prstGeom prst="rect">
            <a:avLst/>
          </a:prstGeom>
          <a:noFill/>
        </p:spPr>
        <p:txBody>
          <a:bodyPr vert="horz" lIns="0" tIns="0" rIns="0" bIns="0" rtlCol="0">
            <a:spAutoFit/>
          </a:bodyPr>
          <a:lstStyle/>
          <a:p>
            <a:r>
              <a:rPr lang="en-US">
                <a:solidFill>
                  <a:srgbClr val="000000"/>
                </a:solidFill>
                <a:latin typeface="Aptos" panose="020B0004020202020204" pitchFamily="34" charset="0"/>
              </a:rPr>
              <a:t>5 trạm mô phỏng  •  Dashboard AQI-first  •  AI Agent có kiểm soát</a:t>
            </a:r>
          </a:p>
        </p:txBody>
      </p:sp>
      <p:sp>
        <p:nvSpPr>
          <p:cNvPr id="7" name="TextBox 6">
            <a:extLst>
              <a:ext uri="{FF2B5EF4-FFF2-40B4-BE49-F238E27FC236}">
                <a16:creationId xmlns:a16="http://schemas.microsoft.com/office/drawing/2014/main" id="{ED3BC18C-F52A-0481-FD0B-23382783563B}"/>
              </a:ext>
            </a:extLst>
          </p:cNvPr>
          <p:cNvSpPr txBox="1"/>
          <p:nvPr/>
        </p:nvSpPr>
        <p:spPr>
          <a:xfrm>
            <a:off x="400050" y="4953000"/>
            <a:ext cx="7429500" cy="138499"/>
          </a:xfrm>
          <a:prstGeom prst="rect">
            <a:avLst/>
          </a:prstGeom>
          <a:noFill/>
        </p:spPr>
        <p:txBody>
          <a:bodyPr vert="horz" lIns="0" tIns="0" rIns="0" bIns="0" rtlCol="0">
            <a:spAutoFit/>
          </a:bodyPr>
          <a:lstStyle/>
          <a:p>
            <a:r>
              <a:rPr lang="vi-VN" sz="900">
                <a:solidFill>
                  <a:srgbClr val="999999"/>
                </a:solidFill>
                <a:latin typeface="Aptos" panose="020B0004020202020204" pitchFamily="34" charset="0"/>
              </a:rPr>
              <a:t>Dữ liệu MVP từ simulator — không phải quan trắc được chứng nhận.</a:t>
            </a:r>
            <a:endParaRPr lang="en-US" sz="900">
              <a:solidFill>
                <a:srgbClr val="999999"/>
              </a:solidFill>
              <a:latin typeface="Aptos" panose="020B0004020202020204" pitchFamily="34" charset="0"/>
            </a:endParaRPr>
          </a:p>
        </p:txBody>
      </p:sp>
    </p:spTree>
    <p:extLst>
      <p:ext uri="{BB962C8B-B14F-4D97-AF65-F5344CB8AC3E}">
        <p14:creationId xmlns:p14="http://schemas.microsoft.com/office/powerpoint/2010/main" val="1711155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D5EF62-B07F-CBA6-9894-86A1A74E8A80}"/>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DBC76BC9-2E0A-DCA0-4598-962D57AAA806}"/>
              </a:ext>
            </a:extLst>
          </p:cNvPr>
          <p:cNvSpPr txBox="1"/>
          <p:nvPr/>
        </p:nvSpPr>
        <p:spPr>
          <a:xfrm>
            <a:off x="400050" y="523875"/>
            <a:ext cx="8334375" cy="300082"/>
          </a:xfrm>
          <a:prstGeom prst="rect">
            <a:avLst/>
          </a:prstGeom>
          <a:noFill/>
        </p:spPr>
        <p:txBody>
          <a:bodyPr vert="horz" lIns="0" tIns="0" rIns="0" bIns="0" rtlCol="0">
            <a:spAutoFit/>
          </a:bodyPr>
          <a:lstStyle/>
          <a:p>
            <a:r>
              <a:rPr lang="vi-VN" sz="1950" b="1">
                <a:solidFill>
                  <a:srgbClr val="000000"/>
                </a:solidFill>
                <a:latin typeface="Aptos" panose="020B0004020202020204" pitchFamily="34" charset="0"/>
              </a:rPr>
              <a:t>Bài toán: dữ liệu chưa đủ để hành động đúng lúc</a:t>
            </a:r>
            <a:endParaRPr lang="en-US" sz="1950" b="1">
              <a:solidFill>
                <a:srgbClr val="000000"/>
              </a:solidFill>
              <a:latin typeface="Aptos" panose="020B0004020202020204" pitchFamily="34" charset="0"/>
            </a:endParaRPr>
          </a:p>
        </p:txBody>
      </p:sp>
      <p:sp>
        <p:nvSpPr>
          <p:cNvPr id="4" name="TextBox 3">
            <a:extLst>
              <a:ext uri="{FF2B5EF4-FFF2-40B4-BE49-F238E27FC236}">
                <a16:creationId xmlns:a16="http://schemas.microsoft.com/office/drawing/2014/main" id="{4EDA1F89-B358-E596-66C7-D115BEEEB52C}"/>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02</a:t>
            </a:r>
          </a:p>
        </p:txBody>
      </p:sp>
      <p:sp>
        <p:nvSpPr>
          <p:cNvPr id="5" name="TextBox 4">
            <a:extLst>
              <a:ext uri="{FF2B5EF4-FFF2-40B4-BE49-F238E27FC236}">
                <a16:creationId xmlns:a16="http://schemas.microsoft.com/office/drawing/2014/main" id="{37DD96C1-188D-9B91-9DF4-8138E1255A6E}"/>
              </a:ext>
            </a:extLst>
          </p:cNvPr>
          <p:cNvSpPr txBox="1"/>
          <p:nvPr/>
        </p:nvSpPr>
        <p:spPr>
          <a:xfrm>
            <a:off x="400050" y="1266825"/>
            <a:ext cx="7620000" cy="230832"/>
          </a:xfrm>
          <a:prstGeom prst="rect">
            <a:avLst/>
          </a:prstGeom>
          <a:noFill/>
        </p:spPr>
        <p:txBody>
          <a:bodyPr vert="horz" lIns="0" tIns="0" rIns="0" bIns="0" rtlCol="0">
            <a:spAutoFit/>
          </a:bodyPr>
          <a:lstStyle/>
          <a:p>
            <a:r>
              <a:rPr lang="vi-VN" sz="1500">
                <a:solidFill>
                  <a:srgbClr val="999999"/>
                </a:solidFill>
                <a:latin typeface="Aptos" panose="020B0004020202020204" pitchFamily="34" charset="0"/>
              </a:rPr>
              <a:t>Người dùng cần câu trả lời nhanh, có ngữ cảnh và có trách nhiệm.</a:t>
            </a:r>
            <a:endParaRPr lang="en-US" sz="1500">
              <a:solidFill>
                <a:srgbClr val="999999"/>
              </a:solidFill>
              <a:latin typeface="Aptos" panose="020B0004020202020204" pitchFamily="34" charset="0"/>
            </a:endParaRPr>
          </a:p>
        </p:txBody>
      </p:sp>
      <p:sp>
        <p:nvSpPr>
          <p:cNvPr id="6" name="Rectangle 5">
            <a:extLst>
              <a:ext uri="{FF2B5EF4-FFF2-40B4-BE49-F238E27FC236}">
                <a16:creationId xmlns:a16="http://schemas.microsoft.com/office/drawing/2014/main" id="{0949A529-1173-F588-C207-EE6EB32B6C1B}"/>
              </a:ext>
            </a:extLst>
          </p:cNvPr>
          <p:cNvSpPr/>
          <p:nvPr/>
        </p:nvSpPr>
        <p:spPr>
          <a:xfrm>
            <a:off x="400050" y="2381250"/>
            <a:ext cx="2476500" cy="1857375"/>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045740B-32EB-5807-2182-65AB7B227091}"/>
              </a:ext>
            </a:extLst>
          </p:cNvPr>
          <p:cNvSpPr txBox="1"/>
          <p:nvPr/>
        </p:nvSpPr>
        <p:spPr>
          <a:xfrm>
            <a:off x="400050" y="2619375"/>
            <a:ext cx="476250" cy="173124"/>
          </a:xfrm>
          <a:prstGeom prst="rect">
            <a:avLst/>
          </a:prstGeom>
          <a:noFill/>
        </p:spPr>
        <p:txBody>
          <a:bodyPr vert="horz" lIns="0" tIns="0" rIns="0" bIns="0" rtlCol="0">
            <a:spAutoFit/>
          </a:bodyPr>
          <a:lstStyle/>
          <a:p>
            <a:r>
              <a:rPr lang="en-US" sz="1125" b="1">
                <a:solidFill>
                  <a:srgbClr val="0080FF"/>
                </a:solidFill>
                <a:latin typeface="Aptos" panose="020B0004020202020204" pitchFamily="34" charset="0"/>
              </a:rPr>
              <a:t>01</a:t>
            </a:r>
          </a:p>
        </p:txBody>
      </p:sp>
      <p:sp>
        <p:nvSpPr>
          <p:cNvPr id="8" name="TextBox 7">
            <a:extLst>
              <a:ext uri="{FF2B5EF4-FFF2-40B4-BE49-F238E27FC236}">
                <a16:creationId xmlns:a16="http://schemas.microsoft.com/office/drawing/2014/main" id="{EE5A8F7C-5D17-3031-6572-8C22D0B1099E}"/>
              </a:ext>
            </a:extLst>
          </p:cNvPr>
          <p:cNvSpPr txBox="1"/>
          <p:nvPr/>
        </p:nvSpPr>
        <p:spPr>
          <a:xfrm>
            <a:off x="400050" y="3095625"/>
            <a:ext cx="2095500" cy="484748"/>
          </a:xfrm>
          <a:prstGeom prst="rect">
            <a:avLst/>
          </a:prstGeom>
          <a:noFill/>
        </p:spPr>
        <p:txBody>
          <a:bodyPr vert="horz" lIns="0" tIns="0" rIns="0" bIns="0" rtlCol="0">
            <a:spAutoFit/>
          </a:bodyPr>
          <a:lstStyle/>
          <a:p>
            <a:r>
              <a:rPr lang="en-US" sz="1575" b="1">
                <a:solidFill>
                  <a:srgbClr val="000000"/>
                </a:solidFill>
                <a:latin typeface="Aptos" panose="020B0004020202020204" pitchFamily="34" charset="0"/>
              </a:rPr>
              <a:t>Khu vực nào đang cần chú ý?</a:t>
            </a:r>
          </a:p>
        </p:txBody>
      </p:sp>
      <p:sp>
        <p:nvSpPr>
          <p:cNvPr id="9" name="Rectangle 8">
            <a:extLst>
              <a:ext uri="{FF2B5EF4-FFF2-40B4-BE49-F238E27FC236}">
                <a16:creationId xmlns:a16="http://schemas.microsoft.com/office/drawing/2014/main" id="{1730DB27-07A4-BB23-32A8-2E37393A6995}"/>
              </a:ext>
            </a:extLst>
          </p:cNvPr>
          <p:cNvSpPr/>
          <p:nvPr/>
        </p:nvSpPr>
        <p:spPr>
          <a:xfrm>
            <a:off x="3257550" y="2381250"/>
            <a:ext cx="2476500" cy="1857375"/>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0DBCF8D-76C4-D054-3AFD-D2AB1169E586}"/>
              </a:ext>
            </a:extLst>
          </p:cNvPr>
          <p:cNvSpPr txBox="1"/>
          <p:nvPr/>
        </p:nvSpPr>
        <p:spPr>
          <a:xfrm>
            <a:off x="3257550" y="2619375"/>
            <a:ext cx="476250" cy="173124"/>
          </a:xfrm>
          <a:prstGeom prst="rect">
            <a:avLst/>
          </a:prstGeom>
          <a:noFill/>
        </p:spPr>
        <p:txBody>
          <a:bodyPr vert="horz" lIns="0" tIns="0" rIns="0" bIns="0" rtlCol="0">
            <a:spAutoFit/>
          </a:bodyPr>
          <a:lstStyle/>
          <a:p>
            <a:r>
              <a:rPr lang="en-US" sz="1125" b="1">
                <a:solidFill>
                  <a:srgbClr val="0080FF"/>
                </a:solidFill>
                <a:latin typeface="Aptos" panose="020B0004020202020204" pitchFamily="34" charset="0"/>
              </a:rPr>
              <a:t>02</a:t>
            </a:r>
          </a:p>
        </p:txBody>
      </p:sp>
      <p:sp>
        <p:nvSpPr>
          <p:cNvPr id="11" name="TextBox 10">
            <a:extLst>
              <a:ext uri="{FF2B5EF4-FFF2-40B4-BE49-F238E27FC236}">
                <a16:creationId xmlns:a16="http://schemas.microsoft.com/office/drawing/2014/main" id="{3B0DBB80-6D7D-FC29-F526-DE81FEECC5C3}"/>
              </a:ext>
            </a:extLst>
          </p:cNvPr>
          <p:cNvSpPr txBox="1"/>
          <p:nvPr/>
        </p:nvSpPr>
        <p:spPr>
          <a:xfrm>
            <a:off x="3257550" y="3095625"/>
            <a:ext cx="2095500" cy="484748"/>
          </a:xfrm>
          <a:prstGeom prst="rect">
            <a:avLst/>
          </a:prstGeom>
          <a:noFill/>
        </p:spPr>
        <p:txBody>
          <a:bodyPr vert="horz" lIns="0" tIns="0" rIns="0" bIns="0" rtlCol="0">
            <a:spAutoFit/>
          </a:bodyPr>
          <a:lstStyle/>
          <a:p>
            <a:r>
              <a:rPr lang="en-US" sz="1575" b="1">
                <a:solidFill>
                  <a:srgbClr val="000000"/>
                </a:solidFill>
                <a:latin typeface="Aptos" panose="020B0004020202020204" pitchFamily="34" charset="0"/>
              </a:rPr>
              <a:t>Chỉ số có còn mới và đáng tin cậy không?</a:t>
            </a:r>
          </a:p>
        </p:txBody>
      </p:sp>
      <p:sp>
        <p:nvSpPr>
          <p:cNvPr id="12" name="Rectangle 11">
            <a:extLst>
              <a:ext uri="{FF2B5EF4-FFF2-40B4-BE49-F238E27FC236}">
                <a16:creationId xmlns:a16="http://schemas.microsoft.com/office/drawing/2014/main" id="{DC5D2F35-463F-EBAB-14C7-262BD03054BC}"/>
              </a:ext>
            </a:extLst>
          </p:cNvPr>
          <p:cNvSpPr/>
          <p:nvPr/>
        </p:nvSpPr>
        <p:spPr>
          <a:xfrm>
            <a:off x="6115050" y="2381250"/>
            <a:ext cx="2476500" cy="1857375"/>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F27C9D9-1C87-ABA9-66A6-7E7943D7340C}"/>
              </a:ext>
            </a:extLst>
          </p:cNvPr>
          <p:cNvSpPr txBox="1"/>
          <p:nvPr/>
        </p:nvSpPr>
        <p:spPr>
          <a:xfrm>
            <a:off x="6115050" y="2619375"/>
            <a:ext cx="476250" cy="173124"/>
          </a:xfrm>
          <a:prstGeom prst="rect">
            <a:avLst/>
          </a:prstGeom>
          <a:noFill/>
        </p:spPr>
        <p:txBody>
          <a:bodyPr vert="horz" lIns="0" tIns="0" rIns="0" bIns="0" rtlCol="0">
            <a:spAutoFit/>
          </a:bodyPr>
          <a:lstStyle/>
          <a:p>
            <a:r>
              <a:rPr lang="en-US" sz="1125" b="1">
                <a:solidFill>
                  <a:srgbClr val="0080FF"/>
                </a:solidFill>
                <a:latin typeface="Aptos" panose="020B0004020202020204" pitchFamily="34" charset="0"/>
              </a:rPr>
              <a:t>03</a:t>
            </a:r>
          </a:p>
        </p:txBody>
      </p:sp>
      <p:sp>
        <p:nvSpPr>
          <p:cNvPr id="14" name="TextBox 13">
            <a:extLst>
              <a:ext uri="{FF2B5EF4-FFF2-40B4-BE49-F238E27FC236}">
                <a16:creationId xmlns:a16="http://schemas.microsoft.com/office/drawing/2014/main" id="{AAE14FEF-FFBC-0342-4193-FB2FD742044C}"/>
              </a:ext>
            </a:extLst>
          </p:cNvPr>
          <p:cNvSpPr txBox="1"/>
          <p:nvPr/>
        </p:nvSpPr>
        <p:spPr>
          <a:xfrm>
            <a:off x="6115050" y="3095625"/>
            <a:ext cx="2095500" cy="727122"/>
          </a:xfrm>
          <a:prstGeom prst="rect">
            <a:avLst/>
          </a:prstGeom>
          <a:noFill/>
        </p:spPr>
        <p:txBody>
          <a:bodyPr vert="horz" lIns="0" tIns="0" rIns="0" bIns="0" rtlCol="0">
            <a:spAutoFit/>
          </a:bodyPr>
          <a:lstStyle/>
          <a:p>
            <a:r>
              <a:rPr lang="en-US" sz="1575" b="1">
                <a:solidFill>
                  <a:srgbClr val="000000"/>
                </a:solidFill>
                <a:latin typeface="Aptos" panose="020B0004020202020204" pitchFamily="34" charset="0"/>
              </a:rPr>
              <a:t>Tôi nên làm gì, và ai chịu trách nhiệm với hành động đó?</a:t>
            </a:r>
          </a:p>
        </p:txBody>
      </p:sp>
      <p:sp>
        <p:nvSpPr>
          <p:cNvPr id="15" name="TextBox 14">
            <a:extLst>
              <a:ext uri="{FF2B5EF4-FFF2-40B4-BE49-F238E27FC236}">
                <a16:creationId xmlns:a16="http://schemas.microsoft.com/office/drawing/2014/main" id="{038303F0-8AEC-59F4-0C6C-4DE060AD88DD}"/>
              </a:ext>
            </a:extLst>
          </p:cNvPr>
          <p:cNvSpPr txBox="1"/>
          <p:nvPr/>
        </p:nvSpPr>
        <p:spPr>
          <a:xfrm>
            <a:off x="400050" y="4762500"/>
            <a:ext cx="8191500" cy="207749"/>
          </a:xfrm>
          <a:prstGeom prst="rect">
            <a:avLst/>
          </a:prstGeom>
          <a:noFill/>
        </p:spPr>
        <p:txBody>
          <a:bodyPr vert="horz" lIns="0" tIns="0" rIns="0" bIns="0" rtlCol="0">
            <a:spAutoFit/>
          </a:bodyPr>
          <a:lstStyle/>
          <a:p>
            <a:r>
              <a:rPr lang="vi-VN">
                <a:solidFill>
                  <a:srgbClr val="000000"/>
                </a:solidFill>
                <a:latin typeface="Aptos" panose="020B0004020202020204" pitchFamily="34" charset="0"/>
              </a:rPr>
              <a:t>Cư dân  •  Người nhạy cảm  •  Người tập thể thao ngoài trời  •  Quản lý vận hành</a:t>
            </a:r>
            <a:endParaRPr lang="en-US">
              <a:solidFill>
                <a:srgbClr val="000000"/>
              </a:solidFill>
              <a:latin typeface="Aptos" panose="020B0004020202020204" pitchFamily="34" charset="0"/>
            </a:endParaRPr>
          </a:p>
        </p:txBody>
      </p:sp>
    </p:spTree>
    <p:extLst>
      <p:ext uri="{BB962C8B-B14F-4D97-AF65-F5344CB8AC3E}">
        <p14:creationId xmlns:p14="http://schemas.microsoft.com/office/powerpoint/2010/main" val="947150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6A4BCD-6DA5-FF85-8396-DD3655D7427C}"/>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CFF29139-998D-B882-B370-94EA6C9F44DE}"/>
              </a:ext>
            </a:extLst>
          </p:cNvPr>
          <p:cNvSpPr txBox="1"/>
          <p:nvPr/>
        </p:nvSpPr>
        <p:spPr>
          <a:xfrm>
            <a:off x="400050" y="523875"/>
            <a:ext cx="8334375" cy="300082"/>
          </a:xfrm>
          <a:prstGeom prst="rect">
            <a:avLst/>
          </a:prstGeom>
          <a:noFill/>
        </p:spPr>
        <p:txBody>
          <a:bodyPr vert="horz" lIns="0" tIns="0" rIns="0" bIns="0" rtlCol="0">
            <a:spAutoFit/>
          </a:bodyPr>
          <a:lstStyle/>
          <a:p>
            <a:r>
              <a:rPr lang="en-US" sz="1950" b="1">
                <a:solidFill>
                  <a:srgbClr val="000000"/>
                </a:solidFill>
                <a:latin typeface="Aptos" panose="020B0004020202020204" pitchFamily="34" charset="0"/>
              </a:rPr>
              <a:t>Giải pháp: từ sensor đến quyết định trong một luồng dữ liệu</a:t>
            </a:r>
          </a:p>
        </p:txBody>
      </p:sp>
      <p:sp>
        <p:nvSpPr>
          <p:cNvPr id="4" name="TextBox 3">
            <a:extLst>
              <a:ext uri="{FF2B5EF4-FFF2-40B4-BE49-F238E27FC236}">
                <a16:creationId xmlns:a16="http://schemas.microsoft.com/office/drawing/2014/main" id="{BD16A248-EF7C-415A-CF68-055183DB24D1}"/>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03</a:t>
            </a:r>
          </a:p>
        </p:txBody>
      </p:sp>
      <p:pic>
        <p:nvPicPr>
          <p:cNvPr id="6" name="Picture 5">
            <a:extLst>
              <a:ext uri="{FF2B5EF4-FFF2-40B4-BE49-F238E27FC236}">
                <a16:creationId xmlns:a16="http://schemas.microsoft.com/office/drawing/2014/main" id="{2A3C73C2-56CE-82CE-23D3-3B808C3770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00550" y="1381125"/>
            <a:ext cx="4286250" cy="3810000"/>
          </a:xfrm>
          <a:prstGeom prst="rect">
            <a:avLst/>
          </a:prstGeom>
        </p:spPr>
      </p:pic>
      <p:sp>
        <p:nvSpPr>
          <p:cNvPr id="7" name="TextBox 6">
            <a:extLst>
              <a:ext uri="{FF2B5EF4-FFF2-40B4-BE49-F238E27FC236}">
                <a16:creationId xmlns:a16="http://schemas.microsoft.com/office/drawing/2014/main" id="{3E873BD7-E0C7-A4F9-3684-FFB347F01A09}"/>
              </a:ext>
            </a:extLst>
          </p:cNvPr>
          <p:cNvSpPr txBox="1"/>
          <p:nvPr/>
        </p:nvSpPr>
        <p:spPr>
          <a:xfrm>
            <a:off x="400050" y="1476375"/>
            <a:ext cx="3476625" cy="830997"/>
          </a:xfrm>
          <a:prstGeom prst="rect">
            <a:avLst/>
          </a:prstGeom>
          <a:noFill/>
        </p:spPr>
        <p:txBody>
          <a:bodyPr vert="horz" lIns="0" tIns="0" rIns="0" bIns="0" rtlCol="0">
            <a:spAutoFit/>
          </a:bodyPr>
          <a:lstStyle/>
          <a:p>
            <a:r>
              <a:rPr lang="en-US" sz="1800" b="1">
                <a:solidFill>
                  <a:srgbClr val="000000"/>
                </a:solidFill>
                <a:latin typeface="Aptos" panose="020B0004020202020204" pitchFamily="34" charset="0"/>
              </a:rPr>
              <a:t>Sensor simulator → MQTT + validation → PostgreSQL → FastAPI → Dashboard &amp; AI Agent</a:t>
            </a:r>
          </a:p>
        </p:txBody>
      </p:sp>
      <p:sp>
        <p:nvSpPr>
          <p:cNvPr id="8" name="TextBox 7">
            <a:extLst>
              <a:ext uri="{FF2B5EF4-FFF2-40B4-BE49-F238E27FC236}">
                <a16:creationId xmlns:a16="http://schemas.microsoft.com/office/drawing/2014/main" id="{65EFAA82-5FE2-2752-1D86-8AA5E81B7469}"/>
              </a:ext>
            </a:extLst>
          </p:cNvPr>
          <p:cNvSpPr txBox="1"/>
          <p:nvPr/>
        </p:nvSpPr>
        <p:spPr>
          <a:xfrm>
            <a:off x="400050" y="3190875"/>
            <a:ext cx="3524250" cy="1346522"/>
          </a:xfrm>
          <a:prstGeom prst="rect">
            <a:avLst/>
          </a:prstGeom>
          <a:noFill/>
        </p:spPr>
        <p:txBody>
          <a:bodyPr vert="horz" lIns="0" tIns="0" rIns="0" bIns="0" rtlCol="0">
            <a:spAutoFit/>
          </a:bodyPr>
          <a:lstStyle/>
          <a:p>
            <a:pPr>
              <a:spcAft>
                <a:spcPts val="1200"/>
              </a:spcAft>
            </a:pPr>
            <a:r>
              <a:rPr lang="vi-VN">
                <a:solidFill>
                  <a:srgbClr val="000000"/>
                </a:solidFill>
                <a:latin typeface="Aptos" panose="020B0004020202020204" pitchFamily="34" charset="0"/>
              </a:rPr>
              <a:t>• 5 trạm S01–S05; PM2.5, CO2, tiếng ồn, nhiệt độ.</a:t>
            </a:r>
          </a:p>
          <a:p>
            <a:pPr>
              <a:spcAft>
                <a:spcPts val="1200"/>
              </a:spcAft>
            </a:pPr>
            <a:r>
              <a:rPr lang="vi-VN">
                <a:solidFill>
                  <a:srgbClr val="000000"/>
                </a:solidFill>
                <a:latin typeface="Aptos" panose="020B0004020202020204" pitchFamily="34" charset="0"/>
              </a:rPr>
              <a:t>• Backend là system of record.</a:t>
            </a:r>
          </a:p>
          <a:p>
            <a:pPr>
              <a:spcAft>
                <a:spcPts val="1200"/>
              </a:spcAft>
            </a:pPr>
            <a:r>
              <a:rPr lang="vi-VN">
                <a:solidFill>
                  <a:srgbClr val="000000"/>
                </a:solidFill>
                <a:latin typeface="Aptos" panose="020B0004020202020204" pitchFamily="34" charset="0"/>
              </a:rPr>
              <a:t>• Dữ liệu invalid, stale hoặc offline bị chặn trước downstream action.</a:t>
            </a:r>
            <a:endParaRPr lang="en-US">
              <a:solidFill>
                <a:srgbClr val="000000"/>
              </a:solidFill>
              <a:latin typeface="Aptos" panose="020B0004020202020204" pitchFamily="34" charset="0"/>
            </a:endParaRPr>
          </a:p>
        </p:txBody>
      </p:sp>
      <p:sp>
        <p:nvSpPr>
          <p:cNvPr id="9" name="TextBox 8">
            <a:extLst>
              <a:ext uri="{FF2B5EF4-FFF2-40B4-BE49-F238E27FC236}">
                <a16:creationId xmlns:a16="http://schemas.microsoft.com/office/drawing/2014/main" id="{89A28A5F-1D27-CB1C-2CD0-212D2371D628}"/>
              </a:ext>
            </a:extLst>
          </p:cNvPr>
          <p:cNvSpPr txBox="1"/>
          <p:nvPr/>
        </p:nvSpPr>
        <p:spPr>
          <a:xfrm>
            <a:off x="400050" y="6048375"/>
            <a:ext cx="3619500" cy="126958"/>
          </a:xfrm>
          <a:prstGeom prst="rect">
            <a:avLst/>
          </a:prstGeom>
          <a:noFill/>
        </p:spPr>
        <p:txBody>
          <a:bodyPr vert="horz" lIns="0" tIns="0" rIns="0" bIns="0" rtlCol="0">
            <a:spAutoFit/>
          </a:bodyPr>
          <a:lstStyle/>
          <a:p>
            <a:r>
              <a:rPr lang="vi-VN" sz="825">
                <a:solidFill>
                  <a:srgbClr val="999999"/>
                </a:solidFill>
                <a:latin typeface="Aptos" panose="020B0004020202020204" pitchFamily="34" charset="0"/>
              </a:rPr>
              <a:t>Nguồn: sơ đồ kiến trúc nội bộ AirGuard AI</a:t>
            </a:r>
            <a:endParaRPr lang="en-US" sz="825">
              <a:solidFill>
                <a:srgbClr val="999999"/>
              </a:solidFill>
              <a:latin typeface="Aptos" panose="020B0004020202020204" pitchFamily="34" charset="0"/>
            </a:endParaRPr>
          </a:p>
        </p:txBody>
      </p:sp>
    </p:spTree>
    <p:extLst>
      <p:ext uri="{BB962C8B-B14F-4D97-AF65-F5344CB8AC3E}">
        <p14:creationId xmlns:p14="http://schemas.microsoft.com/office/powerpoint/2010/main" val="1197497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AD2986-4010-A25B-1F60-9615FABD6CF7}"/>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F62D0687-5AC1-8A0A-6B4B-22C138EACAA6}"/>
              </a:ext>
            </a:extLst>
          </p:cNvPr>
          <p:cNvSpPr txBox="1"/>
          <p:nvPr/>
        </p:nvSpPr>
        <p:spPr>
          <a:xfrm>
            <a:off x="400050" y="523875"/>
            <a:ext cx="8334375" cy="300082"/>
          </a:xfrm>
          <a:prstGeom prst="rect">
            <a:avLst/>
          </a:prstGeom>
          <a:noFill/>
        </p:spPr>
        <p:txBody>
          <a:bodyPr vert="horz" lIns="0" tIns="0" rIns="0" bIns="0" rtlCol="0">
            <a:spAutoFit/>
          </a:bodyPr>
          <a:lstStyle/>
          <a:p>
            <a:r>
              <a:rPr lang="vi-VN" sz="1950" b="1">
                <a:solidFill>
                  <a:srgbClr val="000000"/>
                </a:solidFill>
                <a:latin typeface="Aptos" panose="020B0004020202020204" pitchFamily="34" charset="0"/>
              </a:rPr>
              <a:t>Dashboard AQI-first: nhìn nhanh, đi sâu, theo dõi xu hướng</a:t>
            </a:r>
            <a:endParaRPr lang="en-US" sz="1950" b="1">
              <a:solidFill>
                <a:srgbClr val="000000"/>
              </a:solidFill>
              <a:latin typeface="Aptos" panose="020B0004020202020204" pitchFamily="34" charset="0"/>
            </a:endParaRPr>
          </a:p>
        </p:txBody>
      </p:sp>
      <p:sp>
        <p:nvSpPr>
          <p:cNvPr id="4" name="TextBox 3">
            <a:extLst>
              <a:ext uri="{FF2B5EF4-FFF2-40B4-BE49-F238E27FC236}">
                <a16:creationId xmlns:a16="http://schemas.microsoft.com/office/drawing/2014/main" id="{A09A964A-C013-CC57-9FE9-F5FDE40D66C4}"/>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04</a:t>
            </a:r>
          </a:p>
        </p:txBody>
      </p:sp>
      <p:sp>
        <p:nvSpPr>
          <p:cNvPr id="5" name="TextBox 4">
            <a:extLst>
              <a:ext uri="{FF2B5EF4-FFF2-40B4-BE49-F238E27FC236}">
                <a16:creationId xmlns:a16="http://schemas.microsoft.com/office/drawing/2014/main" id="{8866E20D-147D-EA61-9243-FD73672A7807}"/>
              </a:ext>
            </a:extLst>
          </p:cNvPr>
          <p:cNvSpPr txBox="1"/>
          <p:nvPr/>
        </p:nvSpPr>
        <p:spPr>
          <a:xfrm>
            <a:off x="400050" y="1238250"/>
            <a:ext cx="7620000" cy="219291"/>
          </a:xfrm>
          <a:prstGeom prst="rect">
            <a:avLst/>
          </a:prstGeom>
          <a:noFill/>
        </p:spPr>
        <p:txBody>
          <a:bodyPr vert="horz" lIns="0" tIns="0" rIns="0" bIns="0" rtlCol="0">
            <a:spAutoFit/>
          </a:bodyPr>
          <a:lstStyle/>
          <a:p>
            <a:r>
              <a:rPr lang="en-US" sz="1425">
                <a:solidFill>
                  <a:srgbClr val="999999"/>
                </a:solidFill>
                <a:latin typeface="Aptos" panose="020B0004020202020204" pitchFamily="34" charset="0"/>
              </a:rPr>
              <a:t>AQI là điểm bắt đầu; các chỉ số thành phần và freshness giải thích điều gì đang xảy ra.</a:t>
            </a:r>
          </a:p>
        </p:txBody>
      </p:sp>
      <p:sp>
        <p:nvSpPr>
          <p:cNvPr id="6" name="TextBox 5">
            <a:extLst>
              <a:ext uri="{FF2B5EF4-FFF2-40B4-BE49-F238E27FC236}">
                <a16:creationId xmlns:a16="http://schemas.microsoft.com/office/drawing/2014/main" id="{2A69826D-8E85-D0C8-2528-112D72A22772}"/>
              </a:ext>
            </a:extLst>
          </p:cNvPr>
          <p:cNvSpPr txBox="1"/>
          <p:nvPr/>
        </p:nvSpPr>
        <p:spPr>
          <a:xfrm>
            <a:off x="400050" y="1952625"/>
            <a:ext cx="7239000" cy="1384995"/>
          </a:xfrm>
          <a:prstGeom prst="rect">
            <a:avLst/>
          </a:prstGeom>
          <a:noFill/>
        </p:spPr>
        <p:txBody>
          <a:bodyPr vert="horz" lIns="0" tIns="0" rIns="0" bIns="0" rtlCol="0">
            <a:spAutoFit/>
          </a:bodyPr>
          <a:lstStyle/>
          <a:p>
            <a:pPr>
              <a:spcAft>
                <a:spcPts val="1200"/>
              </a:spcAft>
            </a:pPr>
            <a:r>
              <a:rPr lang="en-US" sz="1500">
                <a:solidFill>
                  <a:srgbClr val="000000"/>
                </a:solidFill>
                <a:latin typeface="Aptos" panose="020B0004020202020204" pitchFamily="34" charset="0"/>
              </a:rPr>
              <a:t>• Bản đồ 5 trạm và trạng thái freshness</a:t>
            </a:r>
          </a:p>
          <a:p>
            <a:pPr>
              <a:spcAft>
                <a:spcPts val="1200"/>
              </a:spcAft>
            </a:pPr>
            <a:r>
              <a:rPr lang="en-US" sz="1500">
                <a:solidFill>
                  <a:srgbClr val="000000"/>
                </a:solidFill>
                <a:latin typeface="Aptos" panose="020B0004020202020204" pitchFamily="34" charset="0"/>
              </a:rPr>
              <a:t>• AQI tổng quan; PM2.5, CO2, tiếng ồn, nhiệt độ để xem chi tiết</a:t>
            </a:r>
          </a:p>
          <a:p>
            <a:pPr>
              <a:spcAft>
                <a:spcPts val="1200"/>
              </a:spcAft>
            </a:pPr>
            <a:r>
              <a:rPr lang="en-US" sz="1500">
                <a:solidFill>
                  <a:srgbClr val="000000"/>
                </a:solidFill>
                <a:latin typeface="Aptos" panose="020B0004020202020204" pitchFamily="34" charset="0"/>
              </a:rPr>
              <a:t>• Lịch sử và forecast ngắn hạn 1–3 giờ</a:t>
            </a:r>
          </a:p>
          <a:p>
            <a:pPr>
              <a:spcAft>
                <a:spcPts val="1200"/>
              </a:spcAft>
            </a:pPr>
            <a:r>
              <a:rPr lang="en-US" sz="1500">
                <a:solidFill>
                  <a:srgbClr val="000000"/>
                </a:solidFill>
                <a:latin typeface="Aptos" panose="020B0004020202020204" pitchFamily="34" charset="0"/>
              </a:rPr>
              <a:t>• Cảnh báo theo rule cho nhiều chỉ số và trạng thái offline</a:t>
            </a:r>
          </a:p>
        </p:txBody>
      </p:sp>
      <p:sp>
        <p:nvSpPr>
          <p:cNvPr id="7" name="Rectangle 6">
            <a:extLst>
              <a:ext uri="{FF2B5EF4-FFF2-40B4-BE49-F238E27FC236}">
                <a16:creationId xmlns:a16="http://schemas.microsoft.com/office/drawing/2014/main" id="{C0C4D105-FC43-F3C2-CB2D-2EC68D7F9439}"/>
              </a:ext>
            </a:extLst>
          </p:cNvPr>
          <p:cNvSpPr/>
          <p:nvPr/>
        </p:nvSpPr>
        <p:spPr>
          <a:xfrm>
            <a:off x="400050" y="4429125"/>
            <a:ext cx="8143875" cy="523875"/>
          </a:xfrm>
          <a:prstGeom prst="rect">
            <a:avLst/>
          </a:prstGeom>
          <a:solidFill>
            <a:srgbClr val="F7C9F4"/>
          </a:solidFill>
          <a:ln>
            <a:solidFill>
              <a:srgbClr val="F7C9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B1AB61-0C7B-6B49-70D0-0DCAB797906B}"/>
              </a:ext>
            </a:extLst>
          </p:cNvPr>
          <p:cNvSpPr txBox="1"/>
          <p:nvPr/>
        </p:nvSpPr>
        <p:spPr>
          <a:xfrm>
            <a:off x="600075" y="4543425"/>
            <a:ext cx="7667625" cy="173124"/>
          </a:xfrm>
          <a:prstGeom prst="rect">
            <a:avLst/>
          </a:prstGeom>
          <a:noFill/>
        </p:spPr>
        <p:txBody>
          <a:bodyPr vert="horz" lIns="0" tIns="0" rIns="0" bIns="0" rtlCol="0">
            <a:spAutoFit/>
          </a:bodyPr>
          <a:lstStyle/>
          <a:p>
            <a:r>
              <a:rPr lang="vi-VN" sz="1125" b="1">
                <a:solidFill>
                  <a:srgbClr val="000000"/>
                </a:solidFill>
                <a:latin typeface="Aptos" panose="020B0004020202020204" pitchFamily="34" charset="0"/>
              </a:rPr>
              <a:t>Minh bạch: mọi payload MVP mang nhãn source = simulator; không trình bày như số liệu quan trắc chính thức.</a:t>
            </a:r>
            <a:endParaRPr lang="en-US" sz="1125" b="1">
              <a:solidFill>
                <a:srgbClr val="000000"/>
              </a:solidFill>
              <a:latin typeface="Aptos" panose="020B0004020202020204" pitchFamily="34" charset="0"/>
            </a:endParaRPr>
          </a:p>
        </p:txBody>
      </p:sp>
    </p:spTree>
    <p:extLst>
      <p:ext uri="{BB962C8B-B14F-4D97-AF65-F5344CB8AC3E}">
        <p14:creationId xmlns:p14="http://schemas.microsoft.com/office/powerpoint/2010/main" val="181523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18F082-B6B8-DB21-139C-F7CD952A2366}"/>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8D46C060-55DC-6D21-FAAD-F4DD5D9ED19B}"/>
              </a:ext>
            </a:extLst>
          </p:cNvPr>
          <p:cNvSpPr txBox="1"/>
          <p:nvPr/>
        </p:nvSpPr>
        <p:spPr>
          <a:xfrm>
            <a:off x="400050" y="523875"/>
            <a:ext cx="8334375" cy="300082"/>
          </a:xfrm>
          <a:prstGeom prst="rect">
            <a:avLst/>
          </a:prstGeom>
          <a:noFill/>
        </p:spPr>
        <p:txBody>
          <a:bodyPr vert="horz" lIns="0" tIns="0" rIns="0" bIns="0" rtlCol="0">
            <a:spAutoFit/>
          </a:bodyPr>
          <a:lstStyle/>
          <a:p>
            <a:r>
              <a:rPr lang="vi-VN" sz="1950" b="1">
                <a:solidFill>
                  <a:srgbClr val="000000"/>
                </a:solidFill>
                <a:latin typeface="Aptos" panose="020B0004020202020204" pitchFamily="34" charset="0"/>
              </a:rPr>
              <a:t>AI hữu ích khi được grounding và có ranh giới rõ ràng</a:t>
            </a:r>
            <a:endParaRPr lang="en-US" sz="1950" b="1">
              <a:solidFill>
                <a:srgbClr val="000000"/>
              </a:solidFill>
              <a:latin typeface="Aptos" panose="020B0004020202020204" pitchFamily="34" charset="0"/>
            </a:endParaRPr>
          </a:p>
        </p:txBody>
      </p:sp>
      <p:sp>
        <p:nvSpPr>
          <p:cNvPr id="4" name="TextBox 3">
            <a:extLst>
              <a:ext uri="{FF2B5EF4-FFF2-40B4-BE49-F238E27FC236}">
                <a16:creationId xmlns:a16="http://schemas.microsoft.com/office/drawing/2014/main" id="{B3E52E70-4CFE-9616-D4FD-560A3FA3D587}"/>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05</a:t>
            </a:r>
          </a:p>
        </p:txBody>
      </p:sp>
      <p:sp>
        <p:nvSpPr>
          <p:cNvPr id="5" name="Rectangle 4">
            <a:extLst>
              <a:ext uri="{FF2B5EF4-FFF2-40B4-BE49-F238E27FC236}">
                <a16:creationId xmlns:a16="http://schemas.microsoft.com/office/drawing/2014/main" id="{B37782B9-6D1E-DA95-952F-1E2A9EABA683}"/>
              </a:ext>
            </a:extLst>
          </p:cNvPr>
          <p:cNvSpPr/>
          <p:nvPr/>
        </p:nvSpPr>
        <p:spPr>
          <a:xfrm>
            <a:off x="400050" y="1504950"/>
            <a:ext cx="3714750" cy="3857625"/>
          </a:xfrm>
          <a:prstGeom prst="rect">
            <a:avLst/>
          </a:prstGeom>
          <a:solidFill>
            <a:srgbClr val="F7C9F4"/>
          </a:solidFill>
          <a:ln>
            <a:solidFill>
              <a:srgbClr val="F7C9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CC2AEF2-887A-9E9C-DDAF-2B1E7E0476A8}"/>
              </a:ext>
            </a:extLst>
          </p:cNvPr>
          <p:cNvSpPr txBox="1"/>
          <p:nvPr/>
        </p:nvSpPr>
        <p:spPr>
          <a:xfrm>
            <a:off x="628650" y="1790700"/>
            <a:ext cx="2857500" cy="276999"/>
          </a:xfrm>
          <a:prstGeom prst="rect">
            <a:avLst/>
          </a:prstGeom>
          <a:noFill/>
        </p:spPr>
        <p:txBody>
          <a:bodyPr vert="horz" lIns="0" tIns="0" rIns="0" bIns="0" rtlCol="0">
            <a:spAutoFit/>
          </a:bodyPr>
          <a:lstStyle/>
          <a:p>
            <a:r>
              <a:rPr lang="en-US" sz="1800" b="1">
                <a:solidFill>
                  <a:srgbClr val="000000"/>
                </a:solidFill>
                <a:latin typeface="Aptos" panose="020B0004020202020204" pitchFamily="34" charset="0"/>
              </a:rPr>
              <a:t>AI Agent có thể</a:t>
            </a:r>
          </a:p>
        </p:txBody>
      </p:sp>
      <p:sp>
        <p:nvSpPr>
          <p:cNvPr id="7" name="TextBox 6">
            <a:extLst>
              <a:ext uri="{FF2B5EF4-FFF2-40B4-BE49-F238E27FC236}">
                <a16:creationId xmlns:a16="http://schemas.microsoft.com/office/drawing/2014/main" id="{EEFF4DC9-E662-F22B-E0AA-7DF69DBFFB92}"/>
              </a:ext>
            </a:extLst>
          </p:cNvPr>
          <p:cNvSpPr txBox="1"/>
          <p:nvPr/>
        </p:nvSpPr>
        <p:spPr>
          <a:xfrm>
            <a:off x="628650" y="2333625"/>
            <a:ext cx="3048000" cy="1092607"/>
          </a:xfrm>
          <a:prstGeom prst="rect">
            <a:avLst/>
          </a:prstGeom>
          <a:noFill/>
        </p:spPr>
        <p:txBody>
          <a:bodyPr vert="horz" lIns="0" tIns="0" rIns="0" bIns="0" rtlCol="0">
            <a:spAutoFit/>
          </a:bodyPr>
          <a:lstStyle/>
          <a:p>
            <a:pPr>
              <a:spcAft>
                <a:spcPts val="1200"/>
              </a:spcAft>
            </a:pPr>
            <a:r>
              <a:rPr lang="vi-VN" sz="1275">
                <a:solidFill>
                  <a:srgbClr val="000000"/>
                </a:solidFill>
                <a:latin typeface="Aptos" panose="020B0004020202020204" pitchFamily="34" charset="0"/>
              </a:rPr>
              <a:t>• Trả lời hiện trạng, so sánh, forecast và cảnh báo.</a:t>
            </a:r>
          </a:p>
          <a:p>
            <a:pPr>
              <a:spcAft>
                <a:spcPts val="1200"/>
              </a:spcAft>
            </a:pPr>
            <a:r>
              <a:rPr lang="vi-VN" sz="1275">
                <a:solidFill>
                  <a:srgbClr val="000000"/>
                </a:solidFill>
                <a:latin typeface="Aptos" panose="020B0004020202020204" pitchFamily="34" charset="0"/>
              </a:rPr>
              <a:t>• Diễn giải theo profile người dùng.</a:t>
            </a:r>
          </a:p>
          <a:p>
            <a:pPr>
              <a:spcAft>
                <a:spcPts val="1200"/>
              </a:spcAft>
            </a:pPr>
            <a:r>
              <a:rPr lang="vi-VN" sz="1275">
                <a:solidFill>
                  <a:srgbClr val="000000"/>
                </a:solidFill>
                <a:latin typeface="Aptos" panose="020B0004020202020204" pitchFamily="34" charset="0"/>
              </a:rPr>
              <a:t>• Tạo proposal có bằng chứng.</a:t>
            </a:r>
            <a:endParaRPr lang="en-US" sz="1275">
              <a:solidFill>
                <a:srgbClr val="000000"/>
              </a:solidFill>
              <a:latin typeface="Aptos" panose="020B0004020202020204" pitchFamily="34" charset="0"/>
            </a:endParaRPr>
          </a:p>
        </p:txBody>
      </p:sp>
      <p:sp>
        <p:nvSpPr>
          <p:cNvPr id="8" name="Rectangle 7">
            <a:extLst>
              <a:ext uri="{FF2B5EF4-FFF2-40B4-BE49-F238E27FC236}">
                <a16:creationId xmlns:a16="http://schemas.microsoft.com/office/drawing/2014/main" id="{093891B1-2F16-CFEE-D5B4-1197CDD7534A}"/>
              </a:ext>
            </a:extLst>
          </p:cNvPr>
          <p:cNvSpPr/>
          <p:nvPr/>
        </p:nvSpPr>
        <p:spPr>
          <a:xfrm>
            <a:off x="4838700" y="1504950"/>
            <a:ext cx="3714750" cy="3857625"/>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38937C6-1BCB-0810-42AD-DF6DE6EA9247}"/>
              </a:ext>
            </a:extLst>
          </p:cNvPr>
          <p:cNvSpPr txBox="1"/>
          <p:nvPr/>
        </p:nvSpPr>
        <p:spPr>
          <a:xfrm>
            <a:off x="5067300" y="1790700"/>
            <a:ext cx="3143250" cy="276999"/>
          </a:xfrm>
          <a:prstGeom prst="rect">
            <a:avLst/>
          </a:prstGeom>
          <a:noFill/>
        </p:spPr>
        <p:txBody>
          <a:bodyPr vert="horz" lIns="0" tIns="0" rIns="0" bIns="0" rtlCol="0">
            <a:spAutoFit/>
          </a:bodyPr>
          <a:lstStyle/>
          <a:p>
            <a:r>
              <a:rPr lang="vi-VN" sz="1800" b="1">
                <a:solidFill>
                  <a:srgbClr val="000000"/>
                </a:solidFill>
                <a:latin typeface="Aptos" panose="020B0004020202020204" pitchFamily="34" charset="0"/>
              </a:rPr>
              <a:t>AI Agent không được</a:t>
            </a:r>
            <a:endParaRPr lang="en-US" sz="1800" b="1">
              <a:solidFill>
                <a:srgbClr val="000000"/>
              </a:solidFill>
              <a:latin typeface="Aptos" panose="020B0004020202020204" pitchFamily="34" charset="0"/>
            </a:endParaRPr>
          </a:p>
        </p:txBody>
      </p:sp>
      <p:sp>
        <p:nvSpPr>
          <p:cNvPr id="10" name="TextBox 9">
            <a:extLst>
              <a:ext uri="{FF2B5EF4-FFF2-40B4-BE49-F238E27FC236}">
                <a16:creationId xmlns:a16="http://schemas.microsoft.com/office/drawing/2014/main" id="{353E8A0F-F10D-E3AB-23B3-A4CE985990C3}"/>
              </a:ext>
            </a:extLst>
          </p:cNvPr>
          <p:cNvSpPr txBox="1"/>
          <p:nvPr/>
        </p:nvSpPr>
        <p:spPr>
          <a:xfrm>
            <a:off x="5067300" y="2333625"/>
            <a:ext cx="3048000" cy="896399"/>
          </a:xfrm>
          <a:prstGeom prst="rect">
            <a:avLst/>
          </a:prstGeom>
          <a:noFill/>
        </p:spPr>
        <p:txBody>
          <a:bodyPr vert="horz" lIns="0" tIns="0" rIns="0" bIns="0" rtlCol="0">
            <a:spAutoFit/>
          </a:bodyPr>
          <a:lstStyle/>
          <a:p>
            <a:pPr>
              <a:spcAft>
                <a:spcPts val="1200"/>
              </a:spcAft>
            </a:pPr>
            <a:r>
              <a:rPr lang="vi-VN" sz="1275">
                <a:solidFill>
                  <a:srgbClr val="000000"/>
                </a:solidFill>
                <a:latin typeface="Aptos" panose="020B0004020202020204" pitchFamily="34" charset="0"/>
              </a:rPr>
              <a:t>• Tự tạo số liệu, ngưỡng hay cảnh báo.</a:t>
            </a:r>
          </a:p>
          <a:p>
            <a:pPr>
              <a:spcAft>
                <a:spcPts val="1200"/>
              </a:spcAft>
            </a:pPr>
            <a:r>
              <a:rPr lang="vi-VN" sz="1275">
                <a:solidFill>
                  <a:srgbClr val="000000"/>
                </a:solidFill>
                <a:latin typeface="Aptos" panose="020B0004020202020204" pitchFamily="34" charset="0"/>
              </a:rPr>
              <a:t>• Truy cập trực tiếp PostgreSQL/MQTT.</a:t>
            </a:r>
          </a:p>
          <a:p>
            <a:pPr>
              <a:spcAft>
                <a:spcPts val="1200"/>
              </a:spcAft>
            </a:pPr>
            <a:r>
              <a:rPr lang="vi-VN" sz="1275">
                <a:solidFill>
                  <a:srgbClr val="000000"/>
                </a:solidFill>
                <a:latin typeface="Aptos" panose="020B0004020202020204" pitchFamily="34" charset="0"/>
              </a:rPr>
              <a:t>• Tự phê duyệt hoặc gửi command.</a:t>
            </a:r>
            <a:endParaRPr lang="en-US" sz="1275">
              <a:solidFill>
                <a:srgbClr val="000000"/>
              </a:solidFill>
              <a:latin typeface="Aptos" panose="020B0004020202020204" pitchFamily="34" charset="0"/>
            </a:endParaRPr>
          </a:p>
        </p:txBody>
      </p:sp>
    </p:spTree>
    <p:extLst>
      <p:ext uri="{BB962C8B-B14F-4D97-AF65-F5344CB8AC3E}">
        <p14:creationId xmlns:p14="http://schemas.microsoft.com/office/powerpoint/2010/main" val="303352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7753D8-795F-279D-0814-A49F883645F4}"/>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DB6EFFE1-01FA-D238-9F34-D5811D42B202}"/>
              </a:ext>
            </a:extLst>
          </p:cNvPr>
          <p:cNvSpPr txBox="1"/>
          <p:nvPr/>
        </p:nvSpPr>
        <p:spPr>
          <a:xfrm>
            <a:off x="400050" y="523875"/>
            <a:ext cx="8334375" cy="300082"/>
          </a:xfrm>
          <a:prstGeom prst="rect">
            <a:avLst/>
          </a:prstGeom>
          <a:noFill/>
        </p:spPr>
        <p:txBody>
          <a:bodyPr vert="horz" lIns="0" tIns="0" rIns="0" bIns="0" rtlCol="0">
            <a:spAutoFit/>
          </a:bodyPr>
          <a:lstStyle/>
          <a:p>
            <a:r>
              <a:rPr lang="en-US" sz="1950" b="1">
                <a:solidFill>
                  <a:srgbClr val="000000"/>
                </a:solidFill>
                <a:latin typeface="Aptos" panose="020B0004020202020204" pitchFamily="34" charset="0"/>
              </a:rPr>
              <a:t>Human-in-the-Loop: khuyến nghị đi cùng trách nhiệm</a:t>
            </a:r>
          </a:p>
        </p:txBody>
      </p:sp>
      <p:sp>
        <p:nvSpPr>
          <p:cNvPr id="4" name="TextBox 3">
            <a:extLst>
              <a:ext uri="{FF2B5EF4-FFF2-40B4-BE49-F238E27FC236}">
                <a16:creationId xmlns:a16="http://schemas.microsoft.com/office/drawing/2014/main" id="{44F301D3-ECC4-DF59-63AE-64BAF1A42E21}"/>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06</a:t>
            </a:r>
          </a:p>
        </p:txBody>
      </p:sp>
      <p:pic>
        <p:nvPicPr>
          <p:cNvPr id="6" name="Picture 5">
            <a:extLst>
              <a:ext uri="{FF2B5EF4-FFF2-40B4-BE49-F238E27FC236}">
                <a16:creationId xmlns:a16="http://schemas.microsoft.com/office/drawing/2014/main" id="{315F567D-08DA-31CC-0C7E-B946755A431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667250" y="1381125"/>
            <a:ext cx="4000500" cy="3762375"/>
          </a:xfrm>
          <a:prstGeom prst="rect">
            <a:avLst/>
          </a:prstGeom>
        </p:spPr>
      </p:pic>
      <p:sp>
        <p:nvSpPr>
          <p:cNvPr id="7" name="TextBox 6">
            <a:extLst>
              <a:ext uri="{FF2B5EF4-FFF2-40B4-BE49-F238E27FC236}">
                <a16:creationId xmlns:a16="http://schemas.microsoft.com/office/drawing/2014/main" id="{ABB2D555-EE43-B2DE-2986-59E4F8B6A805}"/>
              </a:ext>
            </a:extLst>
          </p:cNvPr>
          <p:cNvSpPr txBox="1"/>
          <p:nvPr/>
        </p:nvSpPr>
        <p:spPr>
          <a:xfrm>
            <a:off x="400050" y="1524000"/>
            <a:ext cx="3333750" cy="2100575"/>
          </a:xfrm>
          <a:prstGeom prst="rect">
            <a:avLst/>
          </a:prstGeom>
          <a:noFill/>
        </p:spPr>
        <p:txBody>
          <a:bodyPr vert="horz" lIns="0" tIns="0" rIns="0" bIns="0" rtlCol="0">
            <a:spAutoFit/>
          </a:bodyPr>
          <a:lstStyle/>
          <a:p>
            <a:r>
              <a:rPr lang="en-US" sz="1950" b="1">
                <a:solidFill>
                  <a:srgbClr val="000000"/>
                </a:solidFill>
                <a:latin typeface="Aptos" panose="020B0004020202020204" pitchFamily="34" charset="0"/>
              </a:rPr>
              <a:t>Alert hợp lệ
↓
Proposal pending
↓
Manager approve / reject
↓
Audit &amp; device simulator</a:t>
            </a:r>
          </a:p>
        </p:txBody>
      </p:sp>
    </p:spTree>
    <p:extLst>
      <p:ext uri="{BB962C8B-B14F-4D97-AF65-F5344CB8AC3E}">
        <p14:creationId xmlns:p14="http://schemas.microsoft.com/office/powerpoint/2010/main" val="4126157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1CC0B4-E41C-8591-C923-A4CD8686EB89}"/>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64F69120-5B06-5998-450E-DC44965AC2CB}"/>
              </a:ext>
            </a:extLst>
          </p:cNvPr>
          <p:cNvSpPr txBox="1"/>
          <p:nvPr/>
        </p:nvSpPr>
        <p:spPr>
          <a:xfrm>
            <a:off x="400050" y="523875"/>
            <a:ext cx="8334375" cy="300082"/>
          </a:xfrm>
          <a:prstGeom prst="rect">
            <a:avLst/>
          </a:prstGeom>
          <a:noFill/>
        </p:spPr>
        <p:txBody>
          <a:bodyPr vert="horz" lIns="0" tIns="0" rIns="0" bIns="0" rtlCol="0">
            <a:spAutoFit/>
          </a:bodyPr>
          <a:lstStyle/>
          <a:p>
            <a:r>
              <a:rPr lang="en-US" sz="1950" b="1">
                <a:solidFill>
                  <a:srgbClr val="000000"/>
                </a:solidFill>
                <a:latin typeface="Aptos" panose="020B0004020202020204" pitchFamily="34" charset="0"/>
              </a:rPr>
              <a:t>Metrics: phản hồi lõi đủ nhanh cho quy mô demo</a:t>
            </a:r>
          </a:p>
        </p:txBody>
      </p:sp>
      <p:sp>
        <p:nvSpPr>
          <p:cNvPr id="4" name="TextBox 3">
            <a:extLst>
              <a:ext uri="{FF2B5EF4-FFF2-40B4-BE49-F238E27FC236}">
                <a16:creationId xmlns:a16="http://schemas.microsoft.com/office/drawing/2014/main" id="{25F2038E-BDFC-3D63-CEB6-2005FB7202C0}"/>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07</a:t>
            </a:r>
          </a:p>
        </p:txBody>
      </p:sp>
      <p:sp>
        <p:nvSpPr>
          <p:cNvPr id="5" name="Rectangle 4">
            <a:extLst>
              <a:ext uri="{FF2B5EF4-FFF2-40B4-BE49-F238E27FC236}">
                <a16:creationId xmlns:a16="http://schemas.microsoft.com/office/drawing/2014/main" id="{52A25204-CAE3-B4A6-310E-9A73917F702E}"/>
              </a:ext>
            </a:extLst>
          </p:cNvPr>
          <p:cNvSpPr/>
          <p:nvPr/>
        </p:nvSpPr>
        <p:spPr>
          <a:xfrm>
            <a:off x="400050" y="2190750"/>
            <a:ext cx="1809750" cy="1714500"/>
          </a:xfrm>
          <a:prstGeom prst="rect">
            <a:avLst/>
          </a:prstGeom>
          <a:solidFill>
            <a:srgbClr val="F7C9F4"/>
          </a:solidFill>
          <a:ln>
            <a:solidFill>
              <a:srgbClr val="F7C9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F6E944-41F9-3C0D-C656-EA9A7B5C8FD6}"/>
              </a:ext>
            </a:extLst>
          </p:cNvPr>
          <p:cNvSpPr txBox="1"/>
          <p:nvPr/>
        </p:nvSpPr>
        <p:spPr>
          <a:xfrm>
            <a:off x="400050" y="2571750"/>
            <a:ext cx="1619250" cy="323165"/>
          </a:xfrm>
          <a:prstGeom prst="rect">
            <a:avLst/>
          </a:prstGeom>
          <a:noFill/>
        </p:spPr>
        <p:txBody>
          <a:bodyPr vert="horz" lIns="0" tIns="0" rIns="0" bIns="0" rtlCol="0">
            <a:spAutoFit/>
          </a:bodyPr>
          <a:lstStyle/>
          <a:p>
            <a:r>
              <a:rPr lang="en-US" sz="2100" b="1">
                <a:solidFill>
                  <a:srgbClr val="000000"/>
                </a:solidFill>
                <a:latin typeface="Aptos Display" panose="020B0004020202020204" pitchFamily="34" charset="0"/>
              </a:rPr>
              <a:t>20</a:t>
            </a:r>
          </a:p>
        </p:txBody>
      </p:sp>
      <p:sp>
        <p:nvSpPr>
          <p:cNvPr id="7" name="TextBox 6">
            <a:extLst>
              <a:ext uri="{FF2B5EF4-FFF2-40B4-BE49-F238E27FC236}">
                <a16:creationId xmlns:a16="http://schemas.microsoft.com/office/drawing/2014/main" id="{89ABC558-6D7A-2A3D-2D13-1F042CD099EC}"/>
              </a:ext>
            </a:extLst>
          </p:cNvPr>
          <p:cNvSpPr txBox="1"/>
          <p:nvPr/>
        </p:nvSpPr>
        <p:spPr>
          <a:xfrm>
            <a:off x="400050" y="3143250"/>
            <a:ext cx="1543050" cy="184666"/>
          </a:xfrm>
          <a:prstGeom prst="rect">
            <a:avLst/>
          </a:prstGeom>
          <a:noFill/>
        </p:spPr>
        <p:txBody>
          <a:bodyPr vert="horz" lIns="0" tIns="0" rIns="0" bIns="0" rtlCol="0">
            <a:spAutoFit/>
          </a:bodyPr>
          <a:lstStyle/>
          <a:p>
            <a:r>
              <a:rPr lang="en-US" sz="1200">
                <a:solidFill>
                  <a:srgbClr val="000000"/>
                </a:solidFill>
                <a:latin typeface="Aptos" panose="020B0004020202020204" pitchFamily="34" charset="0"/>
              </a:rPr>
              <a:t>5 trạm × 4 chỉ số</a:t>
            </a:r>
          </a:p>
        </p:txBody>
      </p:sp>
      <p:sp>
        <p:nvSpPr>
          <p:cNvPr id="8" name="Rectangle 7">
            <a:extLst>
              <a:ext uri="{FF2B5EF4-FFF2-40B4-BE49-F238E27FC236}">
                <a16:creationId xmlns:a16="http://schemas.microsoft.com/office/drawing/2014/main" id="{86DAA632-3CF4-1854-52B0-C1E2431C9C68}"/>
              </a:ext>
            </a:extLst>
          </p:cNvPr>
          <p:cNvSpPr/>
          <p:nvPr/>
        </p:nvSpPr>
        <p:spPr>
          <a:xfrm>
            <a:off x="2495550" y="2190750"/>
            <a:ext cx="1809750" cy="1714500"/>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D8A594A-7D21-0EE3-74EF-CEC066056023}"/>
              </a:ext>
            </a:extLst>
          </p:cNvPr>
          <p:cNvSpPr txBox="1"/>
          <p:nvPr/>
        </p:nvSpPr>
        <p:spPr>
          <a:xfrm>
            <a:off x="2495550" y="2571750"/>
            <a:ext cx="1619250" cy="323165"/>
          </a:xfrm>
          <a:prstGeom prst="rect">
            <a:avLst/>
          </a:prstGeom>
          <a:noFill/>
        </p:spPr>
        <p:txBody>
          <a:bodyPr vert="horz" lIns="0" tIns="0" rIns="0" bIns="0" rtlCol="0">
            <a:spAutoFit/>
          </a:bodyPr>
          <a:lstStyle/>
          <a:p>
            <a:r>
              <a:rPr lang="en-US" sz="2100" b="1">
                <a:solidFill>
                  <a:srgbClr val="000000"/>
                </a:solidFill>
                <a:latin typeface="Aptos Display" panose="020B0004020202020204" pitchFamily="34" charset="0"/>
              </a:rPr>
              <a:t>0,010 ms</a:t>
            </a:r>
          </a:p>
        </p:txBody>
      </p:sp>
      <p:sp>
        <p:nvSpPr>
          <p:cNvPr id="10" name="TextBox 9">
            <a:extLst>
              <a:ext uri="{FF2B5EF4-FFF2-40B4-BE49-F238E27FC236}">
                <a16:creationId xmlns:a16="http://schemas.microsoft.com/office/drawing/2014/main" id="{2892073C-B7F7-8CCB-AC32-55437942367B}"/>
              </a:ext>
            </a:extLst>
          </p:cNvPr>
          <p:cNvSpPr txBox="1"/>
          <p:nvPr/>
        </p:nvSpPr>
        <p:spPr>
          <a:xfrm>
            <a:off x="2495550" y="3143250"/>
            <a:ext cx="1543050" cy="184666"/>
          </a:xfrm>
          <a:prstGeom prst="rect">
            <a:avLst/>
          </a:prstGeom>
          <a:noFill/>
        </p:spPr>
        <p:txBody>
          <a:bodyPr vert="horz" lIns="0" tIns="0" rIns="0" bIns="0" rtlCol="0">
            <a:spAutoFit/>
          </a:bodyPr>
          <a:lstStyle/>
          <a:p>
            <a:r>
              <a:rPr lang="en-US" sz="1200">
                <a:solidFill>
                  <a:srgbClr val="000000"/>
                </a:solidFill>
                <a:latin typeface="Aptos" panose="020B0004020202020204" pitchFamily="34" charset="0"/>
              </a:rPr>
              <a:t>MQTT validation p95</a:t>
            </a:r>
          </a:p>
        </p:txBody>
      </p:sp>
      <p:sp>
        <p:nvSpPr>
          <p:cNvPr id="11" name="Rectangle 10">
            <a:extLst>
              <a:ext uri="{FF2B5EF4-FFF2-40B4-BE49-F238E27FC236}">
                <a16:creationId xmlns:a16="http://schemas.microsoft.com/office/drawing/2014/main" id="{74AA67F3-55B4-E090-EB2D-3DB098622E35}"/>
              </a:ext>
            </a:extLst>
          </p:cNvPr>
          <p:cNvSpPr/>
          <p:nvPr/>
        </p:nvSpPr>
        <p:spPr>
          <a:xfrm>
            <a:off x="4591050" y="2190750"/>
            <a:ext cx="1809750" cy="1714500"/>
          </a:xfrm>
          <a:prstGeom prst="rect">
            <a:avLst/>
          </a:prstGeom>
          <a:solidFill>
            <a:srgbClr val="F7C9F4"/>
          </a:solidFill>
          <a:ln>
            <a:solidFill>
              <a:srgbClr val="F7C9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FB15803-0FA5-0E72-F46B-9C2DD5E03991}"/>
              </a:ext>
            </a:extLst>
          </p:cNvPr>
          <p:cNvSpPr txBox="1"/>
          <p:nvPr/>
        </p:nvSpPr>
        <p:spPr>
          <a:xfrm>
            <a:off x="4591050" y="2571750"/>
            <a:ext cx="1619250" cy="323165"/>
          </a:xfrm>
          <a:prstGeom prst="rect">
            <a:avLst/>
          </a:prstGeom>
          <a:noFill/>
        </p:spPr>
        <p:txBody>
          <a:bodyPr vert="horz" lIns="0" tIns="0" rIns="0" bIns="0" rtlCol="0">
            <a:spAutoFit/>
          </a:bodyPr>
          <a:lstStyle/>
          <a:p>
            <a:r>
              <a:rPr lang="en-US" sz="2100" b="1">
                <a:solidFill>
                  <a:srgbClr val="000000"/>
                </a:solidFill>
                <a:latin typeface="Aptos Display" panose="020B0004020202020204" pitchFamily="34" charset="0"/>
              </a:rPr>
              <a:t>98.069</a:t>
            </a:r>
          </a:p>
        </p:txBody>
      </p:sp>
      <p:sp>
        <p:nvSpPr>
          <p:cNvPr id="13" name="TextBox 12">
            <a:extLst>
              <a:ext uri="{FF2B5EF4-FFF2-40B4-BE49-F238E27FC236}">
                <a16:creationId xmlns:a16="http://schemas.microsoft.com/office/drawing/2014/main" id="{F47285D8-5A1C-8C83-4685-9A4CCE0C1EB3}"/>
              </a:ext>
            </a:extLst>
          </p:cNvPr>
          <p:cNvSpPr txBox="1"/>
          <p:nvPr/>
        </p:nvSpPr>
        <p:spPr>
          <a:xfrm>
            <a:off x="4591050" y="3143250"/>
            <a:ext cx="1543050" cy="184666"/>
          </a:xfrm>
          <a:prstGeom prst="rect">
            <a:avLst/>
          </a:prstGeom>
          <a:noFill/>
        </p:spPr>
        <p:txBody>
          <a:bodyPr vert="horz" lIns="0" tIns="0" rIns="0" bIns="0" rtlCol="0">
            <a:spAutoFit/>
          </a:bodyPr>
          <a:lstStyle/>
          <a:p>
            <a:r>
              <a:rPr lang="en-US" sz="1200">
                <a:solidFill>
                  <a:srgbClr val="000000"/>
                </a:solidFill>
                <a:latin typeface="Aptos" panose="020B0004020202020204" pitchFamily="34" charset="0"/>
              </a:rPr>
              <a:t>message/giây</a:t>
            </a:r>
          </a:p>
        </p:txBody>
      </p:sp>
      <p:sp>
        <p:nvSpPr>
          <p:cNvPr id="14" name="Rectangle 13">
            <a:extLst>
              <a:ext uri="{FF2B5EF4-FFF2-40B4-BE49-F238E27FC236}">
                <a16:creationId xmlns:a16="http://schemas.microsoft.com/office/drawing/2014/main" id="{30BD1196-9734-5A6D-160A-F74A03E7728E}"/>
              </a:ext>
            </a:extLst>
          </p:cNvPr>
          <p:cNvSpPr/>
          <p:nvPr/>
        </p:nvSpPr>
        <p:spPr>
          <a:xfrm>
            <a:off x="6686550" y="2190750"/>
            <a:ext cx="1809750" cy="1714500"/>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57E7152-7D7C-94A8-7727-B7AADC9902A1}"/>
              </a:ext>
            </a:extLst>
          </p:cNvPr>
          <p:cNvSpPr txBox="1"/>
          <p:nvPr/>
        </p:nvSpPr>
        <p:spPr>
          <a:xfrm>
            <a:off x="6686550" y="2571750"/>
            <a:ext cx="1619250" cy="323165"/>
          </a:xfrm>
          <a:prstGeom prst="rect">
            <a:avLst/>
          </a:prstGeom>
          <a:noFill/>
        </p:spPr>
        <p:txBody>
          <a:bodyPr vert="horz" lIns="0" tIns="0" rIns="0" bIns="0" rtlCol="0">
            <a:spAutoFit/>
          </a:bodyPr>
          <a:lstStyle/>
          <a:p>
            <a:r>
              <a:rPr lang="en-US" sz="2100" b="1">
                <a:solidFill>
                  <a:srgbClr val="000000"/>
                </a:solidFill>
                <a:latin typeface="Aptos Display" panose="020B0004020202020204" pitchFamily="34" charset="0"/>
              </a:rPr>
              <a:t>4,88 ms</a:t>
            </a:r>
          </a:p>
        </p:txBody>
      </p:sp>
      <p:sp>
        <p:nvSpPr>
          <p:cNvPr id="16" name="TextBox 15">
            <a:extLst>
              <a:ext uri="{FF2B5EF4-FFF2-40B4-BE49-F238E27FC236}">
                <a16:creationId xmlns:a16="http://schemas.microsoft.com/office/drawing/2014/main" id="{8AC3DA9E-40A7-FE44-47FB-E899AF9095A9}"/>
              </a:ext>
            </a:extLst>
          </p:cNvPr>
          <p:cNvSpPr txBox="1"/>
          <p:nvPr/>
        </p:nvSpPr>
        <p:spPr>
          <a:xfrm>
            <a:off x="6686550" y="3143250"/>
            <a:ext cx="1543050" cy="184666"/>
          </a:xfrm>
          <a:prstGeom prst="rect">
            <a:avLst/>
          </a:prstGeom>
          <a:noFill/>
        </p:spPr>
        <p:txBody>
          <a:bodyPr vert="horz" lIns="0" tIns="0" rIns="0" bIns="0" rtlCol="0">
            <a:spAutoFit/>
          </a:bodyPr>
          <a:lstStyle/>
          <a:p>
            <a:r>
              <a:rPr lang="en-US" sz="1200">
                <a:solidFill>
                  <a:srgbClr val="000000"/>
                </a:solidFill>
                <a:latin typeface="Aptos" panose="020B0004020202020204" pitchFamily="34" charset="0"/>
              </a:rPr>
              <a:t>Heatmap 468 điểm p95</a:t>
            </a:r>
          </a:p>
        </p:txBody>
      </p:sp>
      <p:sp>
        <p:nvSpPr>
          <p:cNvPr id="17" name="TextBox 16">
            <a:extLst>
              <a:ext uri="{FF2B5EF4-FFF2-40B4-BE49-F238E27FC236}">
                <a16:creationId xmlns:a16="http://schemas.microsoft.com/office/drawing/2014/main" id="{C505353F-5902-CAB7-C7C2-FC2F1AA99426}"/>
              </a:ext>
            </a:extLst>
          </p:cNvPr>
          <p:cNvSpPr txBox="1"/>
          <p:nvPr/>
        </p:nvSpPr>
        <p:spPr>
          <a:xfrm>
            <a:off x="400050" y="4714875"/>
            <a:ext cx="6191250" cy="207749"/>
          </a:xfrm>
          <a:prstGeom prst="rect">
            <a:avLst/>
          </a:prstGeom>
          <a:noFill/>
        </p:spPr>
        <p:txBody>
          <a:bodyPr vert="horz" lIns="0" tIns="0" rIns="0" bIns="0" rtlCol="0">
            <a:spAutoFit/>
          </a:bodyPr>
          <a:lstStyle/>
          <a:p>
            <a:r>
              <a:rPr lang="en-US" b="1">
                <a:solidFill>
                  <a:srgbClr val="000000"/>
                </a:solidFill>
                <a:latin typeface="Aptos" panose="020B0004020202020204" pitchFamily="34" charset="0"/>
              </a:rPr>
              <a:t>Dashboard polling: 30 giây  •  Simulator publish: 30 giây</a:t>
            </a:r>
          </a:p>
        </p:txBody>
      </p:sp>
      <p:sp>
        <p:nvSpPr>
          <p:cNvPr id="18" name="TextBox 17">
            <a:extLst>
              <a:ext uri="{FF2B5EF4-FFF2-40B4-BE49-F238E27FC236}">
                <a16:creationId xmlns:a16="http://schemas.microsoft.com/office/drawing/2014/main" id="{1113FDCE-8519-95A6-74A4-AD3326611946}"/>
              </a:ext>
            </a:extLst>
          </p:cNvPr>
          <p:cNvSpPr txBox="1"/>
          <p:nvPr/>
        </p:nvSpPr>
        <p:spPr>
          <a:xfrm>
            <a:off x="400050" y="4857750"/>
            <a:ext cx="7953375" cy="138499"/>
          </a:xfrm>
          <a:prstGeom prst="rect">
            <a:avLst/>
          </a:prstGeom>
          <a:noFill/>
        </p:spPr>
        <p:txBody>
          <a:bodyPr vert="horz" lIns="0" tIns="0" rIns="0" bIns="0" rtlCol="0">
            <a:spAutoFit/>
          </a:bodyPr>
          <a:lstStyle/>
          <a:p>
            <a:r>
              <a:rPr lang="vi-VN" sz="900">
                <a:solidFill>
                  <a:srgbClr val="999999"/>
                </a:solidFill>
                <a:latin typeface="Aptos" panose="020B0004020202020204" pitchFamily="34" charset="0"/>
              </a:rPr>
              <a:t>Đo cục bộ 24/08/2026. Microbenchmark xử lý trong tiến trình; chưa bao gồm broker, database và network.</a:t>
            </a:r>
            <a:endParaRPr lang="en-US" sz="900">
              <a:solidFill>
                <a:srgbClr val="999999"/>
              </a:solidFill>
              <a:latin typeface="Aptos" panose="020B0004020202020204" pitchFamily="34" charset="0"/>
            </a:endParaRPr>
          </a:p>
        </p:txBody>
      </p:sp>
    </p:spTree>
    <p:extLst>
      <p:ext uri="{BB962C8B-B14F-4D97-AF65-F5344CB8AC3E}">
        <p14:creationId xmlns:p14="http://schemas.microsoft.com/office/powerpoint/2010/main" val="3925661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4993F0-79C5-2482-8090-A11A109AD2C0}"/>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FA72340E-4762-0E15-158E-88BB1F2DB864}"/>
              </a:ext>
            </a:extLst>
          </p:cNvPr>
          <p:cNvSpPr txBox="1"/>
          <p:nvPr/>
        </p:nvSpPr>
        <p:spPr>
          <a:xfrm>
            <a:off x="400050" y="523875"/>
            <a:ext cx="8334375" cy="300082"/>
          </a:xfrm>
          <a:prstGeom prst="rect">
            <a:avLst/>
          </a:prstGeom>
          <a:noFill/>
        </p:spPr>
        <p:txBody>
          <a:bodyPr vert="horz" lIns="0" tIns="0" rIns="0" bIns="0" rtlCol="0">
            <a:spAutoFit/>
          </a:bodyPr>
          <a:lstStyle/>
          <a:p>
            <a:r>
              <a:rPr lang="en-US" sz="1950" b="1">
                <a:solidFill>
                  <a:srgbClr val="000000"/>
                </a:solidFill>
                <a:latin typeface="Aptos" panose="020B0004020202020204" pitchFamily="34" charset="0"/>
              </a:rPr>
              <a:t>Tính khả thi: pipeline end-to-end và kịch bản kiểm chứng</a:t>
            </a:r>
          </a:p>
        </p:txBody>
      </p:sp>
      <p:sp>
        <p:nvSpPr>
          <p:cNvPr id="4" name="TextBox 3">
            <a:extLst>
              <a:ext uri="{FF2B5EF4-FFF2-40B4-BE49-F238E27FC236}">
                <a16:creationId xmlns:a16="http://schemas.microsoft.com/office/drawing/2014/main" id="{615AAADC-B2CB-C185-1C4F-A67C0E8EE5D5}"/>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08</a:t>
            </a:r>
          </a:p>
        </p:txBody>
      </p:sp>
      <p:sp>
        <p:nvSpPr>
          <p:cNvPr id="5" name="TextBox 4">
            <a:extLst>
              <a:ext uri="{FF2B5EF4-FFF2-40B4-BE49-F238E27FC236}">
                <a16:creationId xmlns:a16="http://schemas.microsoft.com/office/drawing/2014/main" id="{359331C4-7CB2-3599-231A-E71555FE2651}"/>
              </a:ext>
            </a:extLst>
          </p:cNvPr>
          <p:cNvSpPr txBox="1"/>
          <p:nvPr/>
        </p:nvSpPr>
        <p:spPr>
          <a:xfrm>
            <a:off x="400050" y="1409700"/>
            <a:ext cx="2857500" cy="276999"/>
          </a:xfrm>
          <a:prstGeom prst="rect">
            <a:avLst/>
          </a:prstGeom>
          <a:noFill/>
        </p:spPr>
        <p:txBody>
          <a:bodyPr vert="horz" lIns="0" tIns="0" rIns="0" bIns="0" rtlCol="0">
            <a:spAutoFit/>
          </a:bodyPr>
          <a:lstStyle/>
          <a:p>
            <a:r>
              <a:rPr lang="en-US" sz="1800" b="1">
                <a:solidFill>
                  <a:srgbClr val="000000"/>
                </a:solidFill>
                <a:latin typeface="Aptos" panose="020B0004020202020204" pitchFamily="34" charset="0"/>
              </a:rPr>
              <a:t>Đã triển khai</a:t>
            </a:r>
          </a:p>
        </p:txBody>
      </p:sp>
      <p:sp>
        <p:nvSpPr>
          <p:cNvPr id="6" name="TextBox 5">
            <a:extLst>
              <a:ext uri="{FF2B5EF4-FFF2-40B4-BE49-F238E27FC236}">
                <a16:creationId xmlns:a16="http://schemas.microsoft.com/office/drawing/2014/main" id="{B9D2602D-13C6-5720-4DE0-DD1D36568E21}"/>
              </a:ext>
            </a:extLst>
          </p:cNvPr>
          <p:cNvSpPr txBox="1"/>
          <p:nvPr/>
        </p:nvSpPr>
        <p:spPr>
          <a:xfrm>
            <a:off x="400050" y="1885950"/>
            <a:ext cx="3905250" cy="1538883"/>
          </a:xfrm>
          <a:prstGeom prst="rect">
            <a:avLst/>
          </a:prstGeom>
          <a:noFill/>
        </p:spPr>
        <p:txBody>
          <a:bodyPr vert="horz" lIns="0" tIns="0" rIns="0" bIns="0" rtlCol="0">
            <a:spAutoFit/>
          </a:bodyPr>
          <a:lstStyle/>
          <a:p>
            <a:pPr>
              <a:spcAft>
                <a:spcPts val="1200"/>
              </a:spcAft>
            </a:pPr>
            <a:r>
              <a:rPr lang="en-US" sz="1200">
                <a:solidFill>
                  <a:srgbClr val="000000"/>
                </a:solidFill>
                <a:latin typeface="Aptos" panose="020B0004020202020204" pitchFamily="34" charset="0"/>
              </a:rPr>
              <a:t>• Simulator → MQTT → database → API → dashboard.</a:t>
            </a:r>
          </a:p>
          <a:p>
            <a:pPr>
              <a:spcAft>
                <a:spcPts val="1200"/>
              </a:spcAft>
            </a:pPr>
            <a:r>
              <a:rPr lang="en-US" sz="1200">
                <a:solidFill>
                  <a:srgbClr val="000000"/>
                </a:solidFill>
                <a:latin typeface="Aptos" panose="020B0004020202020204" pitchFamily="34" charset="0"/>
              </a:rPr>
              <a:t>• Rule engine cảnh báo đa chỉ số.</a:t>
            </a:r>
          </a:p>
          <a:p>
            <a:pPr>
              <a:spcAft>
                <a:spcPts val="1200"/>
              </a:spcAft>
            </a:pPr>
            <a:r>
              <a:rPr lang="en-US" sz="1200">
                <a:solidFill>
                  <a:srgbClr val="000000"/>
                </a:solidFill>
                <a:latin typeface="Aptos" panose="020B0004020202020204" pitchFamily="34" charset="0"/>
              </a:rPr>
              <a:t>• Forecast baseline 1–3 giờ từ dữ liệu fresh.</a:t>
            </a:r>
          </a:p>
          <a:p>
            <a:pPr>
              <a:spcAft>
                <a:spcPts val="1200"/>
              </a:spcAft>
            </a:pPr>
            <a:r>
              <a:rPr lang="en-US" sz="1200">
                <a:solidFill>
                  <a:srgbClr val="000000"/>
                </a:solidFill>
                <a:latin typeface="Aptos" panose="020B0004020202020204" pitchFamily="34" charset="0"/>
              </a:rPr>
              <a:t>• Agent grounded + deterministic fallback.</a:t>
            </a:r>
          </a:p>
          <a:p>
            <a:pPr>
              <a:spcAft>
                <a:spcPts val="1200"/>
              </a:spcAft>
            </a:pPr>
            <a:r>
              <a:rPr lang="en-US" sz="1200">
                <a:solidFill>
                  <a:srgbClr val="000000"/>
                </a:solidFill>
                <a:latin typeface="Aptos" panose="020B0004020202020204" pitchFamily="34" charset="0"/>
              </a:rPr>
              <a:t>• Proposal, phê duyệt, audit, device simulator.</a:t>
            </a:r>
          </a:p>
        </p:txBody>
      </p:sp>
      <p:sp>
        <p:nvSpPr>
          <p:cNvPr id="7" name="Rectangle 6">
            <a:extLst>
              <a:ext uri="{FF2B5EF4-FFF2-40B4-BE49-F238E27FC236}">
                <a16:creationId xmlns:a16="http://schemas.microsoft.com/office/drawing/2014/main" id="{02E3DE42-E657-6B2D-E9F4-ED814D099DB7}"/>
              </a:ext>
            </a:extLst>
          </p:cNvPr>
          <p:cNvSpPr/>
          <p:nvPr/>
        </p:nvSpPr>
        <p:spPr>
          <a:xfrm>
            <a:off x="4857750" y="1476375"/>
            <a:ext cx="3695700" cy="3810000"/>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18A2E13-8B70-CD58-254C-5DCFAF37D0FB}"/>
              </a:ext>
            </a:extLst>
          </p:cNvPr>
          <p:cNvSpPr txBox="1"/>
          <p:nvPr/>
        </p:nvSpPr>
        <p:spPr>
          <a:xfrm>
            <a:off x="5095875" y="1809750"/>
            <a:ext cx="2857500" cy="276999"/>
          </a:xfrm>
          <a:prstGeom prst="rect">
            <a:avLst/>
          </a:prstGeom>
          <a:noFill/>
        </p:spPr>
        <p:txBody>
          <a:bodyPr vert="horz" lIns="0" tIns="0" rIns="0" bIns="0" rtlCol="0">
            <a:spAutoFit/>
          </a:bodyPr>
          <a:lstStyle/>
          <a:p>
            <a:r>
              <a:rPr lang="en-US" sz="1800" b="1">
                <a:solidFill>
                  <a:srgbClr val="000000"/>
                </a:solidFill>
                <a:latin typeface="Aptos" panose="020B0004020202020204" pitchFamily="34" charset="0"/>
              </a:rPr>
              <a:t>Demo kiểm chứng</a:t>
            </a:r>
          </a:p>
        </p:txBody>
      </p:sp>
      <p:sp>
        <p:nvSpPr>
          <p:cNvPr id="9" name="TextBox 8">
            <a:extLst>
              <a:ext uri="{FF2B5EF4-FFF2-40B4-BE49-F238E27FC236}">
                <a16:creationId xmlns:a16="http://schemas.microsoft.com/office/drawing/2014/main" id="{FC117D80-F48A-2BE4-2BBC-1FC8688D244A}"/>
              </a:ext>
            </a:extLst>
          </p:cNvPr>
          <p:cNvSpPr txBox="1"/>
          <p:nvPr/>
        </p:nvSpPr>
        <p:spPr>
          <a:xfrm>
            <a:off x="5095875" y="2286000"/>
            <a:ext cx="2952750" cy="1538883"/>
          </a:xfrm>
          <a:prstGeom prst="rect">
            <a:avLst/>
          </a:prstGeom>
          <a:noFill/>
        </p:spPr>
        <p:txBody>
          <a:bodyPr vert="horz" lIns="0" tIns="0" rIns="0" bIns="0" rtlCol="0">
            <a:spAutoFit/>
          </a:bodyPr>
          <a:lstStyle/>
          <a:p>
            <a:pPr>
              <a:spcAft>
                <a:spcPts val="1200"/>
              </a:spcAft>
            </a:pPr>
            <a:r>
              <a:rPr lang="en-US" sz="1200">
                <a:solidFill>
                  <a:srgbClr val="000000"/>
                </a:solidFill>
                <a:latin typeface="Aptos" panose="020B0004020202020204" pitchFamily="34" charset="0"/>
              </a:rPr>
              <a:t>• Normal: map + source + freshness.</a:t>
            </a:r>
          </a:p>
          <a:p>
            <a:pPr>
              <a:spcAft>
                <a:spcPts val="1200"/>
              </a:spcAft>
            </a:pPr>
            <a:r>
              <a:rPr lang="en-US" sz="1200">
                <a:solidFill>
                  <a:srgbClr val="000000"/>
                </a:solidFill>
                <a:latin typeface="Aptos" panose="020B0004020202020204" pitchFamily="34" charset="0"/>
              </a:rPr>
              <a:t>• Spike: alert sau chuỗi đo hợp lệ.</a:t>
            </a:r>
          </a:p>
          <a:p>
            <a:pPr>
              <a:spcAft>
                <a:spcPts val="1200"/>
              </a:spcAft>
            </a:pPr>
            <a:r>
              <a:rPr lang="en-US" sz="1200">
                <a:solidFill>
                  <a:srgbClr val="000000"/>
                </a:solidFill>
                <a:latin typeface="Aptos" panose="020B0004020202020204" pitchFamily="34" charset="0"/>
              </a:rPr>
              <a:t>• Stale / duplicate: bị chặn.</a:t>
            </a:r>
          </a:p>
          <a:p>
            <a:pPr>
              <a:spcAft>
                <a:spcPts val="1200"/>
              </a:spcAft>
            </a:pPr>
            <a:r>
              <a:rPr lang="en-US" sz="1200">
                <a:solidFill>
                  <a:srgbClr val="000000"/>
                </a:solidFill>
                <a:latin typeface="Aptos" panose="020B0004020202020204" pitchFamily="34" charset="0"/>
              </a:rPr>
              <a:t>• Agent thiếu dữ liệu: từ chối suy đoán.</a:t>
            </a:r>
          </a:p>
          <a:p>
            <a:pPr>
              <a:spcAft>
                <a:spcPts val="1200"/>
              </a:spcAft>
            </a:pPr>
            <a:r>
              <a:rPr lang="en-US" sz="1200">
                <a:solidFill>
                  <a:srgbClr val="000000"/>
                </a:solidFill>
                <a:latin typeface="Aptos" panose="020B0004020202020204" pitchFamily="34" charset="0"/>
              </a:rPr>
              <a:t>• Proposal: pending → approve/reject → audit.</a:t>
            </a:r>
          </a:p>
        </p:txBody>
      </p:sp>
    </p:spTree>
    <p:extLst>
      <p:ext uri="{BB962C8B-B14F-4D97-AF65-F5344CB8AC3E}">
        <p14:creationId xmlns:p14="http://schemas.microsoft.com/office/powerpoint/2010/main" val="1810763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0B06B-1F60-0CA8-751C-27AFDD8370BA}"/>
              </a:ext>
            </a:extLst>
          </p:cNvPr>
          <p:cNvSpPr txBox="1"/>
          <p:nvPr/>
        </p:nvSpPr>
        <p:spPr>
          <a:xfrm>
            <a:off x="400050" y="228600"/>
            <a:ext cx="2857500" cy="138499"/>
          </a:xfrm>
          <a:prstGeom prst="rect">
            <a:avLst/>
          </a:prstGeom>
          <a:noFill/>
        </p:spPr>
        <p:txBody>
          <a:bodyPr vert="horz" lIns="0" tIns="0" rIns="0" bIns="0" rtlCol="0">
            <a:spAutoFit/>
          </a:bodyPr>
          <a:lstStyle/>
          <a:p>
            <a:r>
              <a:rPr lang="en-US" sz="900" b="1">
                <a:solidFill>
                  <a:srgbClr val="999999"/>
                </a:solidFill>
                <a:latin typeface="Aptos" panose="020B0004020202020204" pitchFamily="34" charset="0"/>
              </a:rPr>
              <a:t>AIRGUARD AI  /  2026</a:t>
            </a:r>
          </a:p>
        </p:txBody>
      </p:sp>
      <p:sp>
        <p:nvSpPr>
          <p:cNvPr id="3" name="TextBox 2">
            <a:extLst>
              <a:ext uri="{FF2B5EF4-FFF2-40B4-BE49-F238E27FC236}">
                <a16:creationId xmlns:a16="http://schemas.microsoft.com/office/drawing/2014/main" id="{53B316AE-700F-2F5A-F872-542D7D8BC717}"/>
              </a:ext>
            </a:extLst>
          </p:cNvPr>
          <p:cNvSpPr txBox="1"/>
          <p:nvPr/>
        </p:nvSpPr>
        <p:spPr>
          <a:xfrm>
            <a:off x="400050" y="523875"/>
            <a:ext cx="8334375" cy="300082"/>
          </a:xfrm>
          <a:prstGeom prst="rect">
            <a:avLst/>
          </a:prstGeom>
          <a:noFill/>
        </p:spPr>
        <p:txBody>
          <a:bodyPr vert="horz" lIns="0" tIns="0" rIns="0" bIns="0" rtlCol="0">
            <a:spAutoFit/>
          </a:bodyPr>
          <a:lstStyle/>
          <a:p>
            <a:r>
              <a:rPr lang="vi-VN" sz="1950" b="1">
                <a:solidFill>
                  <a:srgbClr val="000000"/>
                </a:solidFill>
                <a:latin typeface="Aptos" panose="020B0004020202020204" pitchFamily="34" charset="0"/>
              </a:rPr>
              <a:t>Định hướng: mở rộng minh bạch, có kiểm soát</a:t>
            </a:r>
            <a:endParaRPr lang="en-US" sz="1950" b="1">
              <a:solidFill>
                <a:srgbClr val="000000"/>
              </a:solidFill>
              <a:latin typeface="Aptos" panose="020B0004020202020204" pitchFamily="34" charset="0"/>
            </a:endParaRPr>
          </a:p>
        </p:txBody>
      </p:sp>
      <p:sp>
        <p:nvSpPr>
          <p:cNvPr id="4" name="TextBox 3">
            <a:extLst>
              <a:ext uri="{FF2B5EF4-FFF2-40B4-BE49-F238E27FC236}">
                <a16:creationId xmlns:a16="http://schemas.microsoft.com/office/drawing/2014/main" id="{E113ECF6-1033-EEAC-248A-7A6D065EBA07}"/>
              </a:ext>
            </a:extLst>
          </p:cNvPr>
          <p:cNvSpPr txBox="1"/>
          <p:nvPr/>
        </p:nvSpPr>
        <p:spPr>
          <a:xfrm>
            <a:off x="8524875" y="6305550"/>
            <a:ext cx="476250" cy="126958"/>
          </a:xfrm>
          <a:prstGeom prst="rect">
            <a:avLst/>
          </a:prstGeom>
          <a:noFill/>
        </p:spPr>
        <p:txBody>
          <a:bodyPr vert="horz" lIns="0" tIns="0" rIns="0" bIns="0" rtlCol="0">
            <a:spAutoFit/>
          </a:bodyPr>
          <a:lstStyle/>
          <a:p>
            <a:pPr algn="r"/>
            <a:r>
              <a:rPr lang="en-US" sz="825">
                <a:solidFill>
                  <a:srgbClr val="999999"/>
                </a:solidFill>
                <a:latin typeface="Aptos" panose="020B0004020202020204" pitchFamily="34" charset="0"/>
              </a:rPr>
              <a:t>09</a:t>
            </a:r>
          </a:p>
        </p:txBody>
      </p:sp>
      <p:sp>
        <p:nvSpPr>
          <p:cNvPr id="5" name="Rectangle 4">
            <a:extLst>
              <a:ext uri="{FF2B5EF4-FFF2-40B4-BE49-F238E27FC236}">
                <a16:creationId xmlns:a16="http://schemas.microsoft.com/office/drawing/2014/main" id="{AE06CD73-6089-46B6-1E89-60ECF1912C6A}"/>
              </a:ext>
            </a:extLst>
          </p:cNvPr>
          <p:cNvSpPr/>
          <p:nvPr/>
        </p:nvSpPr>
        <p:spPr>
          <a:xfrm>
            <a:off x="400050" y="1619250"/>
            <a:ext cx="3762375" cy="2857500"/>
          </a:xfrm>
          <a:prstGeom prst="rect">
            <a:avLst/>
          </a:prstGeom>
          <a:solidFill>
            <a:srgbClr val="F7C9F4"/>
          </a:solidFill>
          <a:ln>
            <a:solidFill>
              <a:srgbClr val="F7C9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D5BAF0A-4C8C-53B4-FEC8-F619701BEB9A}"/>
              </a:ext>
            </a:extLst>
          </p:cNvPr>
          <p:cNvSpPr txBox="1"/>
          <p:nvPr/>
        </p:nvSpPr>
        <p:spPr>
          <a:xfrm>
            <a:off x="647700" y="1933575"/>
            <a:ext cx="1905000" cy="276999"/>
          </a:xfrm>
          <a:prstGeom prst="rect">
            <a:avLst/>
          </a:prstGeom>
          <a:noFill/>
        </p:spPr>
        <p:txBody>
          <a:bodyPr vert="horz" lIns="0" tIns="0" rIns="0" bIns="0" rtlCol="0">
            <a:spAutoFit/>
          </a:bodyPr>
          <a:lstStyle/>
          <a:p>
            <a:r>
              <a:rPr lang="en-US" sz="1800" b="1">
                <a:solidFill>
                  <a:srgbClr val="000000"/>
                </a:solidFill>
                <a:latin typeface="Aptos" panose="020B0004020202020204" pitchFamily="34" charset="0"/>
              </a:rPr>
              <a:t>Ngắn hạn</a:t>
            </a:r>
          </a:p>
        </p:txBody>
      </p:sp>
      <p:sp>
        <p:nvSpPr>
          <p:cNvPr id="7" name="TextBox 6">
            <a:extLst>
              <a:ext uri="{FF2B5EF4-FFF2-40B4-BE49-F238E27FC236}">
                <a16:creationId xmlns:a16="http://schemas.microsoft.com/office/drawing/2014/main" id="{B19A4D1E-6FD1-05D2-0677-EE4C2C2083E3}"/>
              </a:ext>
            </a:extLst>
          </p:cNvPr>
          <p:cNvSpPr txBox="1"/>
          <p:nvPr/>
        </p:nvSpPr>
        <p:spPr>
          <a:xfrm>
            <a:off x="647700" y="2400300"/>
            <a:ext cx="3143250" cy="892552"/>
          </a:xfrm>
          <a:prstGeom prst="rect">
            <a:avLst/>
          </a:prstGeom>
          <a:noFill/>
        </p:spPr>
        <p:txBody>
          <a:bodyPr vert="horz" lIns="0" tIns="0" rIns="0" bIns="0" rtlCol="0">
            <a:spAutoFit/>
          </a:bodyPr>
          <a:lstStyle/>
          <a:p>
            <a:pPr>
              <a:spcAft>
                <a:spcPts val="1200"/>
              </a:spcAft>
            </a:pPr>
            <a:r>
              <a:rPr lang="vi-VN" sz="1200">
                <a:solidFill>
                  <a:srgbClr val="000000"/>
                </a:solidFill>
                <a:latin typeface="Aptos" panose="020B0004020202020204" pitchFamily="34" charset="0"/>
              </a:rPr>
              <a:t>• Chốt ngưỡng cảnh báo, severity, tọa độ trạm và vai trò Manager.</a:t>
            </a:r>
          </a:p>
          <a:p>
            <a:pPr>
              <a:spcAft>
                <a:spcPts val="1200"/>
              </a:spcAft>
            </a:pPr>
            <a:r>
              <a:rPr lang="vi-VN" sz="1200">
                <a:solidFill>
                  <a:srgbClr val="000000"/>
                </a:solidFill>
                <a:latin typeface="Aptos" panose="020B0004020202020204" pitchFamily="34" charset="0"/>
              </a:rPr>
              <a:t>• Hoàn thiện weather, notification và worker bất đồng bộ.</a:t>
            </a:r>
            <a:endParaRPr lang="en-US" sz="1200">
              <a:solidFill>
                <a:srgbClr val="000000"/>
              </a:solidFill>
              <a:latin typeface="Aptos" panose="020B0004020202020204" pitchFamily="34" charset="0"/>
            </a:endParaRPr>
          </a:p>
        </p:txBody>
      </p:sp>
      <p:sp>
        <p:nvSpPr>
          <p:cNvPr id="8" name="Rectangle 7">
            <a:extLst>
              <a:ext uri="{FF2B5EF4-FFF2-40B4-BE49-F238E27FC236}">
                <a16:creationId xmlns:a16="http://schemas.microsoft.com/office/drawing/2014/main" id="{81282176-B782-69E7-AE1C-B832D1C965BA}"/>
              </a:ext>
            </a:extLst>
          </p:cNvPr>
          <p:cNvSpPr/>
          <p:nvPr/>
        </p:nvSpPr>
        <p:spPr>
          <a:xfrm>
            <a:off x="4810125" y="1619250"/>
            <a:ext cx="3762375" cy="2857500"/>
          </a:xfrm>
          <a:prstGeom prst="rect">
            <a:avLst/>
          </a:prstGeom>
          <a:solidFill>
            <a:srgbClr val="E6E6E6"/>
          </a:solidFill>
          <a:ln>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2836CAF-69C7-A80C-45BE-62E0DF8DC5AC}"/>
              </a:ext>
            </a:extLst>
          </p:cNvPr>
          <p:cNvSpPr txBox="1"/>
          <p:nvPr/>
        </p:nvSpPr>
        <p:spPr>
          <a:xfrm>
            <a:off x="5057775" y="1933575"/>
            <a:ext cx="1905000" cy="276999"/>
          </a:xfrm>
          <a:prstGeom prst="rect">
            <a:avLst/>
          </a:prstGeom>
          <a:noFill/>
        </p:spPr>
        <p:txBody>
          <a:bodyPr vert="horz" lIns="0" tIns="0" rIns="0" bIns="0" rtlCol="0">
            <a:spAutoFit/>
          </a:bodyPr>
          <a:lstStyle/>
          <a:p>
            <a:r>
              <a:rPr lang="en-US" sz="1800" b="1">
                <a:solidFill>
                  <a:srgbClr val="000000"/>
                </a:solidFill>
                <a:latin typeface="Aptos" panose="020B0004020202020204" pitchFamily="34" charset="0"/>
              </a:rPr>
              <a:t>Trung hạn</a:t>
            </a:r>
          </a:p>
        </p:txBody>
      </p:sp>
      <p:sp>
        <p:nvSpPr>
          <p:cNvPr id="10" name="TextBox 9">
            <a:extLst>
              <a:ext uri="{FF2B5EF4-FFF2-40B4-BE49-F238E27FC236}">
                <a16:creationId xmlns:a16="http://schemas.microsoft.com/office/drawing/2014/main" id="{62A9982E-74BD-AFF8-E2C1-6A46186F3E25}"/>
              </a:ext>
            </a:extLst>
          </p:cNvPr>
          <p:cNvSpPr txBox="1"/>
          <p:nvPr/>
        </p:nvSpPr>
        <p:spPr>
          <a:xfrm>
            <a:off x="5057775" y="2400300"/>
            <a:ext cx="3143250" cy="1046440"/>
          </a:xfrm>
          <a:prstGeom prst="rect">
            <a:avLst/>
          </a:prstGeom>
          <a:noFill/>
        </p:spPr>
        <p:txBody>
          <a:bodyPr vert="horz" lIns="0" tIns="0" rIns="0" bIns="0" rtlCol="0">
            <a:spAutoFit/>
          </a:bodyPr>
          <a:lstStyle/>
          <a:p>
            <a:pPr>
              <a:spcAft>
                <a:spcPts val="1200"/>
              </a:spcAft>
            </a:pPr>
            <a:r>
              <a:rPr lang="en-US" sz="1200">
                <a:solidFill>
                  <a:srgbClr val="000000"/>
                </a:solidFill>
                <a:latin typeface="Aptos" panose="020B0004020202020204" pitchFamily="34" charset="0"/>
              </a:rPr>
              <a:t>• Tích hợp sensor thật và xác thực thực địa.</a:t>
            </a:r>
          </a:p>
          <a:p>
            <a:pPr>
              <a:spcAft>
                <a:spcPts val="1200"/>
              </a:spcAft>
            </a:pPr>
            <a:r>
              <a:rPr lang="en-US" sz="1200">
                <a:solidFill>
                  <a:srgbClr val="000000"/>
                </a:solidFill>
                <a:latin typeface="Aptos" panose="020B0004020202020204" pitchFamily="34" charset="0"/>
              </a:rPr>
              <a:t>• Đánh giá/backtest forecast.</a:t>
            </a:r>
          </a:p>
          <a:p>
            <a:pPr>
              <a:spcAft>
                <a:spcPts val="1200"/>
              </a:spcAft>
            </a:pPr>
            <a:r>
              <a:rPr lang="en-US" sz="1200">
                <a:solidFill>
                  <a:srgbClr val="000000"/>
                </a:solidFill>
                <a:latin typeface="Aptos" panose="020B0004020202020204" pitchFamily="34" charset="0"/>
              </a:rPr>
              <a:t>• Bổ sung authentication/RBAC production và observability.</a:t>
            </a:r>
          </a:p>
        </p:txBody>
      </p:sp>
      <p:sp>
        <p:nvSpPr>
          <p:cNvPr id="11" name="TextBox 10">
            <a:extLst>
              <a:ext uri="{FF2B5EF4-FFF2-40B4-BE49-F238E27FC236}">
                <a16:creationId xmlns:a16="http://schemas.microsoft.com/office/drawing/2014/main" id="{88C4725B-B109-0BA2-C695-D4E3A33EB1D0}"/>
              </a:ext>
            </a:extLst>
          </p:cNvPr>
          <p:cNvSpPr txBox="1"/>
          <p:nvPr/>
        </p:nvSpPr>
        <p:spPr>
          <a:xfrm>
            <a:off x="400050" y="5238750"/>
            <a:ext cx="7810500" cy="577081"/>
          </a:xfrm>
          <a:prstGeom prst="rect">
            <a:avLst/>
          </a:prstGeom>
          <a:noFill/>
        </p:spPr>
        <p:txBody>
          <a:bodyPr vert="horz" lIns="0" tIns="0" rIns="0" bIns="0" rtlCol="0">
            <a:spAutoFit/>
          </a:bodyPr>
          <a:lstStyle/>
          <a:p>
            <a:r>
              <a:rPr lang="vi-VN" sz="1875" b="1">
                <a:solidFill>
                  <a:srgbClr val="000000"/>
                </a:solidFill>
                <a:latin typeface="Aptos" panose="020B0004020202020204" pitchFamily="34" charset="0"/>
              </a:rPr>
              <a:t>Mở rộng trên nền tảng có kiểm soát dữ liệu, minh bạch AI và trách nhiệm con người.</a:t>
            </a:r>
            <a:endParaRPr lang="en-US" sz="1875" b="1">
              <a:solidFill>
                <a:srgbClr val="000000"/>
              </a:solidFill>
              <a:latin typeface="Aptos" panose="020B0004020202020204" pitchFamily="34" charset="0"/>
            </a:endParaRPr>
          </a:p>
        </p:txBody>
      </p:sp>
    </p:spTree>
    <p:extLst>
      <p:ext uri="{BB962C8B-B14F-4D97-AF65-F5344CB8AC3E}">
        <p14:creationId xmlns:p14="http://schemas.microsoft.com/office/powerpoint/2010/main" val="446704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1098</Words>
  <Application>Microsoft Office PowerPoint</Application>
  <PresentationFormat>On-screen Show (16:9)</PresentationFormat>
  <Paragraphs>105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Lê Tuấn Cảnh 23020013</dc:creator>
  <cp:lastModifiedBy>Lê Tuấn Cảnh 23020013</cp:lastModifiedBy>
  <cp:revision>1</cp:revision>
  <dcterms:created xsi:type="dcterms:W3CDTF">2026-08-24T11:08:08Z</dcterms:created>
  <dcterms:modified xsi:type="dcterms:W3CDTF">2026-08-24T11:08:08Z</dcterms:modified>
</cp:coreProperties>
</file>